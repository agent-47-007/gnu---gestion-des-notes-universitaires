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déplacer la diapo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&lt;en-tête&gt;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84B89B3-390B-4CE6-9AB8-A166A4FB91E8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60BE3B4-B3B6-4EC7-89B1-9DF38ABFD634}" type="slidenum">
              <a: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FE9A58F-7EC4-484F-A28B-BB7CCD3B9B7C}" type="slidenum">
              <a: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12567BB-6DA3-42DB-ADE1-46D07D7551D5}" type="slidenum">
              <a: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090ECC1-CAC0-4F3F-BDE2-283735EB7649}" type="slidenum">
              <a: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384746C-0982-4E30-B13E-465C8CACBFA9}" type="slidenum">
              <a: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A9FB1B7-EE6E-42D7-9BE1-38F8950599BD}" type="slidenum">
              <a: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C09DC34-5340-4558-9E42-DF552CA2E5C3}" type="slidenum">
              <a: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41E369-B262-4597-83BD-1B1F2D870CB0}" type="slidenum">
              <a: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009937E-DAC1-4563-9390-9878ADD3AEAD}" type="slidenum">
              <a: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A8D1ADB-183A-4189-8447-189F0936A6D6}" type="slidenum">
              <a: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3215728-8EEA-4BED-9D10-804D420058AE}" type="slidenum">
              <a: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556123F-DAAC-4FED-A842-36EE47D38E29}" type="slidenum">
              <a: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CF92B6-83F3-4E4E-A4E9-C735318413CE}" type="slidenum">
              <a: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ue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 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ur 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éd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ite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 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 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 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xt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e-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titre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3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13.png"/><Relationship Id="rId8" Type="http://schemas.openxmlformats.org/officeDocument/2006/relationships/image" Target="../media/image13.png"/><Relationship Id="rId9" Type="http://schemas.openxmlformats.org/officeDocument/2006/relationships/image" Target="../media/image15.png"/><Relationship Id="rId10" Type="http://schemas.openxmlformats.org/officeDocument/2006/relationships/image" Target="../media/image13.png"/><Relationship Id="rId11" Type="http://schemas.openxmlformats.org/officeDocument/2006/relationships/image" Target="../media/image13.png"/><Relationship Id="rId12" Type="http://schemas.openxmlformats.org/officeDocument/2006/relationships/image" Target="../media/image13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0.png"/><Relationship Id="rId3" Type="http://schemas.openxmlformats.org/officeDocument/2006/relationships/image" Target="../media/image19.png"/><Relationship Id="rId4" Type="http://schemas.openxmlformats.org/officeDocument/2006/relationships/image" Target="../media/image7.png"/><Relationship Id="rId5" Type="http://schemas.openxmlformats.org/officeDocument/2006/relationships/image" Target="../media/image20.png"/><Relationship Id="rId6" Type="http://schemas.openxmlformats.org/officeDocument/2006/relationships/image" Target="../media/image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8778240" y="-2011680"/>
            <a:ext cx="6399360" cy="6399360"/>
          </a:xfrm>
          <a:prstGeom prst="ellipse">
            <a:avLst/>
          </a:prstGeom>
          <a:solidFill>
            <a:srgbClr val="141B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10332720" y="4206240"/>
            <a:ext cx="4021920" cy="4021920"/>
          </a:xfrm>
          <a:prstGeom prst="ellipse">
            <a:avLst/>
          </a:prstGeom>
          <a:solidFill>
            <a:srgbClr val="141B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2"/>
          <p:cNvSpPr/>
          <p:nvPr/>
        </p:nvSpPr>
        <p:spPr>
          <a:xfrm>
            <a:off x="9646920" y="2514600"/>
            <a:ext cx="1827360" cy="1827360"/>
          </a:xfrm>
          <a:prstGeom prst="ellipse">
            <a:avLst/>
          </a:prstGeom>
          <a:solidFill>
            <a:srgbClr val="141B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" name="Image 0" descr="/home/claude/deck/icons/gradcap_FFFFFF.png"/>
          <p:cNvPicPr/>
          <p:nvPr/>
        </p:nvPicPr>
        <p:blipFill>
          <a:blip r:embed="rId1"/>
          <a:stretch/>
        </p:blipFill>
        <p:spPr>
          <a:xfrm>
            <a:off x="9866520" y="2734200"/>
            <a:ext cx="1388520" cy="138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Text 3"/>
          <p:cNvSpPr/>
          <p:nvPr/>
        </p:nvSpPr>
        <p:spPr>
          <a:xfrm>
            <a:off x="640080" y="548640"/>
            <a:ext cx="8228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pc="201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RÉPUBLIQUE DU CAMEROUN  ·  STAGE ACADEMIQUE ARITED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4"/>
          <p:cNvSpPr/>
          <p:nvPr/>
        </p:nvSpPr>
        <p:spPr>
          <a:xfrm>
            <a:off x="658080" y="960120"/>
            <a:ext cx="1097280" cy="360"/>
          </a:xfrm>
          <a:prstGeom prst="line">
            <a:avLst/>
          </a:prstGeom>
          <a:ln w="31680">
            <a:solidFill>
              <a:srgbClr val="C9A2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5"/>
          <p:cNvSpPr/>
          <p:nvPr/>
        </p:nvSpPr>
        <p:spPr>
          <a:xfrm>
            <a:off x="640080" y="2286000"/>
            <a:ext cx="868536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4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Gestion des Notes </a:t>
            </a:r>
            <a:endParaRPr lang="fr-FR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4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D’une Université</a:t>
            </a:r>
            <a:endParaRPr lang="fr-FR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6"/>
          <p:cNvSpPr/>
          <p:nvPr/>
        </p:nvSpPr>
        <p:spPr>
          <a:xfrm>
            <a:off x="640080" y="3246120"/>
            <a:ext cx="78624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8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7"/>
          <p:cNvSpPr/>
          <p:nvPr/>
        </p:nvSpPr>
        <p:spPr>
          <a:xfrm>
            <a:off x="640080" y="3794760"/>
            <a:ext cx="75880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0" u="none" strike="noStrike">
                <a:solidFill>
                  <a:srgbClr val="9BA9D6"/>
                </a:solidFill>
                <a:effectLst/>
                <a:uFillTx/>
                <a:latin typeface="Calibri"/>
                <a:ea typeface="Calibri"/>
              </a:rPr>
              <a:t>Application Web &amp; Mobile — Recueil des besoins, cas d'utilisation et modèle de données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8"/>
          <p:cNvSpPr/>
          <p:nvPr/>
        </p:nvSpPr>
        <p:spPr>
          <a:xfrm>
            <a:off x="658080" y="5349240"/>
            <a:ext cx="7498080" cy="360"/>
          </a:xfrm>
          <a:prstGeom prst="line">
            <a:avLst/>
          </a:prstGeom>
          <a:ln w="12600">
            <a:solidFill>
              <a:srgbClr val="3A41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9"/>
          <p:cNvSpPr/>
          <p:nvPr/>
        </p:nvSpPr>
        <p:spPr>
          <a:xfrm>
            <a:off x="640080" y="5532120"/>
            <a:ext cx="594216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fr-FR" sz="1300" b="0" u="none" strike="noStrike">
                <a:solidFill>
                  <a:srgbClr val="9BA9D6"/>
                </a:solidFill>
                <a:effectLst/>
                <a:uFillTx/>
                <a:latin typeface="Calibri"/>
                <a:ea typeface="Calibri"/>
              </a:rPr>
              <a:t>Pré</a:t>
            </a:r>
            <a:r>
              <a:rPr lang="fr-FR" sz="1300" b="0" u="none" strike="noStrike">
                <a:solidFill>
                  <a:srgbClr val="9BA9D6"/>
                </a:solidFill>
                <a:effectLst/>
                <a:uFillTx/>
                <a:latin typeface="Calibri"/>
                <a:ea typeface="Calibri"/>
              </a:rPr>
              <a:t>sen</a:t>
            </a:r>
            <a:r>
              <a:rPr lang="fr-FR" sz="1300" b="0" u="none" strike="noStrike">
                <a:solidFill>
                  <a:srgbClr val="9BA9D6"/>
                </a:solidFill>
                <a:effectLst/>
                <a:uFillTx/>
                <a:latin typeface="Calibri"/>
                <a:ea typeface="Calibri"/>
              </a:rPr>
              <a:t>té </a:t>
            </a:r>
            <a:r>
              <a:rPr lang="fr-FR" sz="1300" b="0" u="none" strike="noStrike">
                <a:solidFill>
                  <a:srgbClr val="9BA9D6"/>
                </a:solidFill>
                <a:effectLst/>
                <a:uFillTx/>
                <a:latin typeface="Calibri"/>
                <a:ea typeface="Calibri"/>
              </a:rPr>
              <a:t>par </a:t>
            </a:r>
            <a:r>
              <a:rPr lang="fr-FR" sz="1300" b="0" u="none" strike="noStrike">
                <a:solidFill>
                  <a:srgbClr val="9BA9D6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fr-F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Ng</a:t>
            </a:r>
            <a:r>
              <a:rPr lang="fr-F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ue </a:t>
            </a:r>
            <a:r>
              <a:rPr lang="fr-F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Mb</a:t>
            </a:r>
            <a:r>
              <a:rPr lang="fr-F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on</a:t>
            </a:r>
            <a:r>
              <a:rPr lang="fr-F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 </a:t>
            </a:r>
            <a:r>
              <a:rPr lang="fr-F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</a:t>
            </a:r>
            <a:r>
              <a:rPr lang="fr-F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dré </a:t>
            </a:r>
            <a:r>
              <a:rPr lang="fr-F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Fit</a:t>
            </a:r>
            <a:r>
              <a:rPr lang="fr-F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zg</a:t>
            </a:r>
            <a:r>
              <a:rPr lang="fr-F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era</a:t>
            </a:r>
            <a:r>
              <a:rPr lang="fr-F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ld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fr-FR" sz="1300" b="0" u="none" strike="noStrike">
                <a:solidFill>
                  <a:srgbClr val="9BA9D6"/>
                </a:solidFill>
                <a:effectLst/>
                <a:uFillTx/>
                <a:latin typeface="Calibri"/>
                <a:ea typeface="Calibri"/>
              </a:rPr>
              <a:t>Enc</a:t>
            </a:r>
            <a:r>
              <a:rPr lang="fr-FR" sz="1300" b="0" u="none" strike="noStrike">
                <a:solidFill>
                  <a:srgbClr val="9BA9D6"/>
                </a:solidFill>
                <a:effectLst/>
                <a:uFillTx/>
                <a:latin typeface="Calibri"/>
                <a:ea typeface="Calibri"/>
              </a:rPr>
              <a:t>adr</a:t>
            </a:r>
            <a:r>
              <a:rPr lang="fr-FR" sz="1300" b="0" u="none" strike="noStrike">
                <a:solidFill>
                  <a:srgbClr val="9BA9D6"/>
                </a:solidFill>
                <a:effectLst/>
                <a:uFillTx/>
                <a:latin typeface="Calibri"/>
                <a:ea typeface="Calibri"/>
              </a:rPr>
              <a:t>é </a:t>
            </a:r>
            <a:r>
              <a:rPr lang="fr-FR" sz="1300" b="0" u="none" strike="noStrike">
                <a:solidFill>
                  <a:srgbClr val="9BA9D6"/>
                </a:solidFill>
                <a:effectLst/>
                <a:uFillTx/>
                <a:latin typeface="Calibri"/>
                <a:ea typeface="Calibri"/>
              </a:rPr>
              <a:t>par </a:t>
            </a:r>
            <a:r>
              <a:rPr lang="fr-FR" sz="1300" b="0" u="none" strike="noStrike">
                <a:solidFill>
                  <a:srgbClr val="9BA9D6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fr-F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Dr </a:t>
            </a:r>
            <a:r>
              <a:rPr lang="fr-F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</a:t>
            </a:r>
            <a:r>
              <a:rPr lang="fr-F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om</a:t>
            </a:r>
            <a:r>
              <a:rPr lang="fr-F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as </a:t>
            </a:r>
            <a:r>
              <a:rPr lang="fr-F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</a:t>
            </a:r>
            <a:r>
              <a:rPr lang="fr-F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ssi </a:t>
            </a:r>
            <a:r>
              <a:rPr lang="fr-F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Ng</a:t>
            </a:r>
            <a:r>
              <a:rPr lang="fr-F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uel</a:t>
            </a:r>
            <a:r>
              <a:rPr lang="fr-F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0"/>
          <p:cNvSpPr/>
          <p:nvPr/>
        </p:nvSpPr>
        <p:spPr>
          <a:xfrm>
            <a:off x="640080" y="6355080"/>
            <a:ext cx="45705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548640" y="384120"/>
            <a:ext cx="9142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pc="201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CADRE DU PROJET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548640" y="658440"/>
            <a:ext cx="1078848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Contexte &amp; </a:t>
            </a:r>
            <a:r>
              <a:rPr lang="fr-FR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problématiq</a:t>
            </a:r>
            <a:r>
              <a:rPr lang="fr-FR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ue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2"/>
          <p:cNvSpPr/>
          <p:nvPr/>
        </p:nvSpPr>
        <p:spPr>
          <a:xfrm>
            <a:off x="548640" y="1353240"/>
            <a:ext cx="1005840" cy="360"/>
          </a:xfrm>
          <a:prstGeom prst="line">
            <a:avLst/>
          </a:prstGeom>
          <a:ln w="31680">
            <a:solidFill>
              <a:srgbClr val="C9A2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3"/>
          <p:cNvSpPr/>
          <p:nvPr/>
        </p:nvSpPr>
        <p:spPr>
          <a:xfrm>
            <a:off x="548640" y="1691640"/>
            <a:ext cx="6307920" cy="155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fr-FR" sz="14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La gestion des notes des </a:t>
            </a:r>
            <a:r>
              <a:rPr lang="fr-FR" sz="14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Universités repose encore, </a:t>
            </a:r>
            <a:r>
              <a:rPr lang="fr-FR" sz="14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dans de nombreux </a:t>
            </a:r>
            <a:r>
              <a:rPr lang="fr-FR" sz="14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départements, sur des </a:t>
            </a:r>
            <a:r>
              <a:rPr lang="fr-FR" sz="14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procédures manuelles ou </a:t>
            </a:r>
            <a:r>
              <a:rPr lang="fr-FR" sz="14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semi-automatisées (feuilles </a:t>
            </a:r>
            <a:r>
              <a:rPr lang="fr-FR" sz="14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de calcul, registres papier), </a:t>
            </a:r>
            <a:r>
              <a:rPr lang="fr-FR" sz="14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gérées de façon cloisonnée </a:t>
            </a:r>
            <a:r>
              <a:rPr lang="fr-FR" sz="14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par chaque enseignant ou </a:t>
            </a:r>
            <a:r>
              <a:rPr lang="fr-FR" sz="14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secrétariat pédagogique.</a:t>
            </a:r>
            <a:endParaRPr lang="fr-F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4"/>
          <p:cNvSpPr/>
          <p:nvPr/>
        </p:nvSpPr>
        <p:spPr>
          <a:xfrm>
            <a:off x="548640" y="3063240"/>
            <a:ext cx="630792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fr-FR" sz="14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Cette situation engendre des </a:t>
            </a:r>
            <a:r>
              <a:rPr lang="fr-FR" sz="14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risques d'erreurs de saisie et </a:t>
            </a:r>
            <a:r>
              <a:rPr lang="fr-FR" sz="14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de calcul, des délais de </a:t>
            </a:r>
            <a:r>
              <a:rPr lang="fr-FR" sz="14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publication parfois longs, et </a:t>
            </a:r>
            <a:r>
              <a:rPr lang="fr-FR" sz="14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un manque de visibilité pour </a:t>
            </a:r>
            <a:r>
              <a:rPr lang="fr-FR" sz="14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les étudiants sur l'état </a:t>
            </a:r>
            <a:r>
              <a:rPr lang="fr-FR" sz="14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d'avancement de leurs </a:t>
            </a:r>
            <a:r>
              <a:rPr lang="fr-FR" sz="14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résultats.</a:t>
            </a:r>
            <a:endParaRPr lang="fr-F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5"/>
          <p:cNvSpPr/>
          <p:nvPr/>
        </p:nvSpPr>
        <p:spPr>
          <a:xfrm>
            <a:off x="548640" y="4709160"/>
            <a:ext cx="455760" cy="4557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" name="Image 0" descr="/home/claude/deck/icons/scan_FFFFFF.png"/>
          <p:cNvPicPr/>
          <p:nvPr/>
        </p:nvPicPr>
        <p:blipFill>
          <a:blip r:embed="rId1"/>
          <a:stretch/>
        </p:blipFill>
        <p:spPr>
          <a:xfrm>
            <a:off x="603360" y="4763880"/>
            <a:ext cx="345960" cy="34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Text 6"/>
          <p:cNvSpPr/>
          <p:nvPr/>
        </p:nvSpPr>
        <p:spPr>
          <a:xfrm>
            <a:off x="1143000" y="4617720"/>
            <a:ext cx="14616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6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Saisie manuelle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7"/>
          <p:cNvSpPr/>
          <p:nvPr/>
        </p:nvSpPr>
        <p:spPr>
          <a:xfrm>
            <a:off x="1143000" y="4937760"/>
            <a:ext cx="14616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Excel / papier, aucun outil dédié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8"/>
          <p:cNvSpPr/>
          <p:nvPr/>
        </p:nvSpPr>
        <p:spPr>
          <a:xfrm>
            <a:off x="2697480" y="4709160"/>
            <a:ext cx="455760" cy="4557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" name="Image 1" descr="/home/claude/deck/icons/calendar_FFFFFF.png"/>
          <p:cNvPicPr/>
          <p:nvPr/>
        </p:nvPicPr>
        <p:blipFill>
          <a:blip r:embed="rId2"/>
          <a:stretch/>
        </p:blipFill>
        <p:spPr>
          <a:xfrm>
            <a:off x="2752200" y="4763880"/>
            <a:ext cx="345960" cy="34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Text 9"/>
          <p:cNvSpPr/>
          <p:nvPr/>
        </p:nvSpPr>
        <p:spPr>
          <a:xfrm>
            <a:off x="3291840" y="4617720"/>
            <a:ext cx="14616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6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~7 jours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3291840" y="4937760"/>
            <a:ext cx="14616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é</a:t>
            </a: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 </a:t>
            </a: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y</a:t>
            </a: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n </a:t>
            </a: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j</a:t>
            </a: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q</a:t>
            </a: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'à </a:t>
            </a: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li</a:t>
            </a: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ti</a:t>
            </a: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n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1"/>
          <p:cNvSpPr/>
          <p:nvPr/>
        </p:nvSpPr>
        <p:spPr>
          <a:xfrm>
            <a:off x="4846320" y="4709160"/>
            <a:ext cx="455760" cy="4557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" name="Image 2" descr="/home/claude/deck/icons/alert_FFFFFF.png"/>
          <p:cNvPicPr/>
          <p:nvPr/>
        </p:nvPicPr>
        <p:blipFill>
          <a:blip r:embed="rId3"/>
          <a:stretch/>
        </p:blipFill>
        <p:spPr>
          <a:xfrm>
            <a:off x="4901040" y="4763880"/>
            <a:ext cx="345960" cy="34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Text 12"/>
          <p:cNvSpPr/>
          <p:nvPr/>
        </p:nvSpPr>
        <p:spPr>
          <a:xfrm>
            <a:off x="5440680" y="4617720"/>
            <a:ext cx="14616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6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Zéro traçabilité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3"/>
          <p:cNvSpPr/>
          <p:nvPr/>
        </p:nvSpPr>
        <p:spPr>
          <a:xfrm>
            <a:off x="5440680" y="4937760"/>
            <a:ext cx="14616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des corrections après publication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4"/>
          <p:cNvSpPr/>
          <p:nvPr/>
        </p:nvSpPr>
        <p:spPr>
          <a:xfrm>
            <a:off x="7178040" y="1691640"/>
            <a:ext cx="4479120" cy="4433400"/>
          </a:xfrm>
          <a:prstGeom prst="roundRect">
            <a:avLst>
              <a:gd name="adj" fmla="val 2062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5"/>
          <p:cNvSpPr/>
          <p:nvPr/>
        </p:nvSpPr>
        <p:spPr>
          <a:xfrm>
            <a:off x="7543800" y="2011680"/>
            <a:ext cx="501480" cy="50148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Image 3" descr="/home/claude/deck/icons/alert_1E2761.png"/>
          <p:cNvPicPr/>
          <p:nvPr/>
        </p:nvPicPr>
        <p:blipFill>
          <a:blip r:embed="rId4"/>
          <a:stretch/>
        </p:blipFill>
        <p:spPr>
          <a:xfrm>
            <a:off x="7604280" y="2072160"/>
            <a:ext cx="380880" cy="38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Text 16"/>
          <p:cNvSpPr/>
          <p:nvPr/>
        </p:nvSpPr>
        <p:spPr>
          <a:xfrm>
            <a:off x="8183880" y="2084760"/>
            <a:ext cx="3290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pc="150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PROBLÉMATIQUE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7"/>
          <p:cNvSpPr/>
          <p:nvPr/>
        </p:nvSpPr>
        <p:spPr>
          <a:xfrm>
            <a:off x="7543800" y="2743200"/>
            <a:ext cx="3793320" cy="20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fr-FR" sz="1550" b="0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Comment centraliser, sécuriser et automatiser la gestion des notes des étudiants des Universités, tout en la rendant accessible à l'ensemble des acteurs concernés — étudiants, enseignants, scolarité, administration — aussi bien depuis un ordinateur que depuis un smartphone ?</a:t>
            </a:r>
            <a:endParaRPr lang="fr-F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8"/>
          <p:cNvSpPr/>
          <p:nvPr/>
        </p:nvSpPr>
        <p:spPr>
          <a:xfrm>
            <a:off x="7543800" y="4892040"/>
            <a:ext cx="3794760" cy="360"/>
          </a:xfrm>
          <a:prstGeom prst="line">
            <a:avLst/>
          </a:prstGeom>
          <a:ln w="12600">
            <a:solidFill>
              <a:srgbClr val="3A41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9"/>
          <p:cNvSpPr/>
          <p:nvPr/>
        </p:nvSpPr>
        <p:spPr>
          <a:xfrm>
            <a:off x="7543800" y="5074920"/>
            <a:ext cx="379332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fr-FR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Il est question d’offrir </a:t>
            </a:r>
            <a:r>
              <a:rPr lang="fr-FR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un espace regroupant </a:t>
            </a:r>
            <a:r>
              <a:rPr lang="fr-FR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étudiants et </a:t>
            </a:r>
            <a:r>
              <a:rPr lang="fr-FR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enseignants par filière, </a:t>
            </a:r>
            <a:r>
              <a:rPr lang="fr-FR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pour fluidifier le </a:t>
            </a:r>
            <a:r>
              <a:rPr lang="fr-FR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traitement des notes </a:t>
            </a:r>
            <a:r>
              <a:rPr lang="fr-FR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attribuées après </a:t>
            </a:r>
            <a:r>
              <a:rPr lang="fr-FR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évalutions aux </a:t>
            </a:r>
            <a:r>
              <a:rPr lang="fr-FR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étudiants d’une </a:t>
            </a:r>
            <a:r>
              <a:rPr lang="fr-FR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Université.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0"/>
          <p:cNvSpPr/>
          <p:nvPr/>
        </p:nvSpPr>
        <p:spPr>
          <a:xfrm>
            <a:off x="11521440" y="649224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1"/>
          <p:cNvSpPr/>
          <p:nvPr/>
        </p:nvSpPr>
        <p:spPr>
          <a:xfrm>
            <a:off x="457200" y="6492240"/>
            <a:ext cx="4570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Gestion des Notes  d'une </a:t>
            </a:r>
            <a:r>
              <a:rPr lang="fr-FR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Université – Système LMD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548640" y="384120"/>
            <a:ext cx="9142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pc="201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CADRE DU PROJET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548640" y="658440"/>
            <a:ext cx="1078848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Objectifs du projet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"/>
          <p:cNvSpPr/>
          <p:nvPr/>
        </p:nvSpPr>
        <p:spPr>
          <a:xfrm>
            <a:off x="548640" y="1353240"/>
            <a:ext cx="1005840" cy="360"/>
          </a:xfrm>
          <a:prstGeom prst="line">
            <a:avLst/>
          </a:prstGeom>
          <a:ln w="31680">
            <a:solidFill>
              <a:srgbClr val="C9A2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3"/>
          <p:cNvSpPr/>
          <p:nvPr/>
        </p:nvSpPr>
        <p:spPr>
          <a:xfrm>
            <a:off x="548640" y="1691640"/>
            <a:ext cx="11062800" cy="95868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4"/>
          <p:cNvSpPr/>
          <p:nvPr/>
        </p:nvSpPr>
        <p:spPr>
          <a:xfrm>
            <a:off x="868680" y="1810440"/>
            <a:ext cx="274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100" b="1" u="none" spc="150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OBJECTIF GÉNÉRAL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5"/>
          <p:cNvSpPr/>
          <p:nvPr/>
        </p:nvSpPr>
        <p:spPr>
          <a:xfrm>
            <a:off x="868680" y="2103120"/>
            <a:ext cx="104227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500" b="0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Concevoir et réaliser une application de gestion des notes, disponible en version Web et Mobile, adaptée au système </a:t>
            </a:r>
            <a:r>
              <a:rPr lang="fr-FR" sz="1500" b="0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LMD en vigueur dans les Universités.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6"/>
          <p:cNvSpPr/>
          <p:nvPr/>
        </p:nvSpPr>
        <p:spPr>
          <a:xfrm>
            <a:off x="548640" y="3063240"/>
            <a:ext cx="3592080" cy="141588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60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7"/>
          <p:cNvSpPr/>
          <p:nvPr/>
        </p:nvSpPr>
        <p:spPr>
          <a:xfrm>
            <a:off x="777240" y="3291840"/>
            <a:ext cx="455760" cy="45576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Image 0" descr="/home/claude/deck/icons/clipboard_1E2761.png"/>
          <p:cNvPicPr/>
          <p:nvPr/>
        </p:nvPicPr>
        <p:blipFill>
          <a:blip r:embed="rId1"/>
          <a:stretch/>
        </p:blipFill>
        <p:spPr>
          <a:xfrm>
            <a:off x="831960" y="3346560"/>
            <a:ext cx="345960" cy="34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Text 8"/>
          <p:cNvSpPr/>
          <p:nvPr/>
        </p:nvSpPr>
        <p:spPr>
          <a:xfrm>
            <a:off x="777240" y="3840480"/>
            <a:ext cx="313488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fr-FR" sz="11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Automatiser la saisie et le calcul des moyennes selon les coefficients des matières.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9"/>
          <p:cNvSpPr/>
          <p:nvPr/>
        </p:nvSpPr>
        <p:spPr>
          <a:xfrm>
            <a:off x="4279320" y="3063240"/>
            <a:ext cx="3592080" cy="141588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60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0"/>
          <p:cNvSpPr/>
          <p:nvPr/>
        </p:nvSpPr>
        <p:spPr>
          <a:xfrm>
            <a:off x="4507920" y="3291840"/>
            <a:ext cx="455760" cy="45576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1" descr="/home/claude/deck/icons/database_1E2761.png"/>
          <p:cNvPicPr/>
          <p:nvPr/>
        </p:nvPicPr>
        <p:blipFill>
          <a:blip r:embed="rId2"/>
          <a:stretch/>
        </p:blipFill>
        <p:spPr>
          <a:xfrm>
            <a:off x="4563000" y="3346560"/>
            <a:ext cx="345960" cy="34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11"/>
          <p:cNvSpPr/>
          <p:nvPr/>
        </p:nvSpPr>
        <p:spPr>
          <a:xfrm>
            <a:off x="4507920" y="3840480"/>
            <a:ext cx="313488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fr-FR" sz="11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Centraliser les données académiques — étudiants, UE, EC, notes — d'une base unique.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2"/>
          <p:cNvSpPr/>
          <p:nvPr/>
        </p:nvSpPr>
        <p:spPr>
          <a:xfrm>
            <a:off x="8010000" y="3063240"/>
            <a:ext cx="3592080" cy="141588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60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3"/>
          <p:cNvSpPr/>
          <p:nvPr/>
        </p:nvSpPr>
        <p:spPr>
          <a:xfrm>
            <a:off x="8238600" y="3291840"/>
            <a:ext cx="455760" cy="45576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Image 2" descr="/home/claude/deck/icons/devices_1E2761.png"/>
          <p:cNvPicPr/>
          <p:nvPr/>
        </p:nvPicPr>
        <p:blipFill>
          <a:blip r:embed="rId3"/>
          <a:stretch/>
        </p:blipFill>
        <p:spPr>
          <a:xfrm>
            <a:off x="8293680" y="3346560"/>
            <a:ext cx="345960" cy="34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14"/>
          <p:cNvSpPr/>
          <p:nvPr/>
        </p:nvSpPr>
        <p:spPr>
          <a:xfrm>
            <a:off x="8238600" y="3840480"/>
            <a:ext cx="313488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fr-FR" sz="11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Offrir un accès Web et Mobile aux mêmes informations, via une architecture commune.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5"/>
          <p:cNvSpPr/>
          <p:nvPr/>
        </p:nvSpPr>
        <p:spPr>
          <a:xfrm>
            <a:off x="548640" y="4709160"/>
            <a:ext cx="3592080" cy="141588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60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6"/>
          <p:cNvSpPr/>
          <p:nvPr/>
        </p:nvSpPr>
        <p:spPr>
          <a:xfrm>
            <a:off x="777240" y="4937760"/>
            <a:ext cx="455760" cy="45576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3" descr="/home/claude/deck/icons/filecheck_1E2761.png"/>
          <p:cNvPicPr/>
          <p:nvPr/>
        </p:nvPicPr>
        <p:blipFill>
          <a:blip r:embed="rId4"/>
          <a:stretch/>
        </p:blipFill>
        <p:spPr>
          <a:xfrm>
            <a:off x="831960" y="4992480"/>
            <a:ext cx="345960" cy="34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 17"/>
          <p:cNvSpPr/>
          <p:nvPr/>
        </p:nvSpPr>
        <p:spPr>
          <a:xfrm>
            <a:off x="777240" y="5486400"/>
            <a:ext cx="313488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fr-FR" sz="11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Sécuriser les accès selon les rôles des utilisateurs (étudiant, enseignant, agent).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8"/>
          <p:cNvSpPr/>
          <p:nvPr/>
        </p:nvSpPr>
        <p:spPr>
          <a:xfrm>
            <a:off x="4279320" y="4709160"/>
            <a:ext cx="3592080" cy="141588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60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9"/>
          <p:cNvSpPr/>
          <p:nvPr/>
        </p:nvSpPr>
        <p:spPr>
          <a:xfrm>
            <a:off x="4507920" y="4937760"/>
            <a:ext cx="455760" cy="45576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Image 4" descr="/home/claude/deck/icons/send_1E2761.png"/>
          <p:cNvPicPr/>
          <p:nvPr/>
        </p:nvPicPr>
        <p:blipFill>
          <a:blip r:embed="rId5"/>
          <a:stretch/>
        </p:blipFill>
        <p:spPr>
          <a:xfrm>
            <a:off x="4563000" y="4992480"/>
            <a:ext cx="345960" cy="34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 20"/>
          <p:cNvSpPr/>
          <p:nvPr/>
        </p:nvSpPr>
        <p:spPr>
          <a:xfrm>
            <a:off x="4507920" y="5486400"/>
            <a:ext cx="313488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fr-FR" sz="11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Permettre la génération automatique des relevés de notes et bulletins semestriels.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1"/>
          <p:cNvSpPr/>
          <p:nvPr/>
        </p:nvSpPr>
        <p:spPr>
          <a:xfrm>
            <a:off x="11521440" y="649224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2"/>
          <p:cNvSpPr/>
          <p:nvPr/>
        </p:nvSpPr>
        <p:spPr>
          <a:xfrm>
            <a:off x="457200" y="6492240"/>
            <a:ext cx="4570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Gestion des Notes  d'une Université – Système LMD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548640" y="384120"/>
            <a:ext cx="9142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pc="201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CADRE DU PROJET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"/>
          <p:cNvSpPr/>
          <p:nvPr/>
        </p:nvSpPr>
        <p:spPr>
          <a:xfrm>
            <a:off x="548640" y="658440"/>
            <a:ext cx="1078848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Périmètre du projet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"/>
          <p:cNvSpPr/>
          <p:nvPr/>
        </p:nvSpPr>
        <p:spPr>
          <a:xfrm>
            <a:off x="548640" y="1353240"/>
            <a:ext cx="1005840" cy="360"/>
          </a:xfrm>
          <a:prstGeom prst="line">
            <a:avLst/>
          </a:prstGeom>
          <a:ln w="31680">
            <a:solidFill>
              <a:srgbClr val="C9A2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3"/>
          <p:cNvSpPr/>
          <p:nvPr/>
        </p:nvSpPr>
        <p:spPr>
          <a:xfrm>
            <a:off x="548640" y="1691640"/>
            <a:ext cx="5439240" cy="447912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60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4"/>
          <p:cNvSpPr/>
          <p:nvPr/>
        </p:nvSpPr>
        <p:spPr>
          <a:xfrm>
            <a:off x="822960" y="1920240"/>
            <a:ext cx="501480" cy="5014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" name="Image 0" descr="/home/claude/deck/icons/check_FFFFFF.png"/>
          <p:cNvPicPr/>
          <p:nvPr/>
        </p:nvPicPr>
        <p:blipFill>
          <a:blip r:embed="rId1"/>
          <a:stretch/>
        </p:blipFill>
        <p:spPr>
          <a:xfrm>
            <a:off x="883440" y="1980720"/>
            <a:ext cx="380880" cy="38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 5"/>
          <p:cNvSpPr/>
          <p:nvPr/>
        </p:nvSpPr>
        <p:spPr>
          <a:xfrm>
            <a:off x="1463040" y="1993320"/>
            <a:ext cx="4113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7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Inclus dans le périmètre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868680" y="2606040"/>
            <a:ext cx="2728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•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1143000" y="2606040"/>
            <a:ext cx="46620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Gestion des étudiants, matières (EC/UE), notes et calcul des moyennes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8"/>
          <p:cNvSpPr/>
          <p:nvPr/>
        </p:nvSpPr>
        <p:spPr>
          <a:xfrm>
            <a:off x="868680" y="3136320"/>
            <a:ext cx="2728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•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9"/>
          <p:cNvSpPr/>
          <p:nvPr/>
        </p:nvSpPr>
        <p:spPr>
          <a:xfrm>
            <a:off x="1143000" y="3136320"/>
            <a:ext cx="46620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Authentification et gestion des rôles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0"/>
          <p:cNvSpPr/>
          <p:nvPr/>
        </p:nvSpPr>
        <p:spPr>
          <a:xfrm>
            <a:off x="868680" y="3666600"/>
            <a:ext cx="2728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•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1"/>
          <p:cNvSpPr/>
          <p:nvPr/>
        </p:nvSpPr>
        <p:spPr>
          <a:xfrm>
            <a:off x="1143000" y="3666600"/>
            <a:ext cx="46620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Génération de relevés de notes (PDF)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2"/>
          <p:cNvSpPr/>
          <p:nvPr/>
        </p:nvSpPr>
        <p:spPr>
          <a:xfrm>
            <a:off x="868680" y="4197240"/>
            <a:ext cx="2728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•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3"/>
          <p:cNvSpPr/>
          <p:nvPr/>
        </p:nvSpPr>
        <p:spPr>
          <a:xfrm>
            <a:off x="1143000" y="4197240"/>
            <a:ext cx="46620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Notifications de publication des notes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4"/>
          <p:cNvSpPr/>
          <p:nvPr/>
        </p:nvSpPr>
        <p:spPr>
          <a:xfrm>
            <a:off x="868680" y="4727520"/>
            <a:ext cx="2728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•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5"/>
          <p:cNvSpPr/>
          <p:nvPr/>
        </p:nvSpPr>
        <p:spPr>
          <a:xfrm>
            <a:off x="1143000" y="4727520"/>
            <a:ext cx="46620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Gestion des réclamations et requêtes des étudiants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6"/>
          <p:cNvSpPr/>
          <p:nvPr/>
        </p:nvSpPr>
        <p:spPr>
          <a:xfrm>
            <a:off x="868680" y="5257800"/>
            <a:ext cx="2728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•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7"/>
          <p:cNvSpPr/>
          <p:nvPr/>
        </p:nvSpPr>
        <p:spPr>
          <a:xfrm>
            <a:off x="1143000" y="5257800"/>
            <a:ext cx="46620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Espace de mise en relation enseignants / étudiants par filière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8"/>
          <p:cNvSpPr/>
          <p:nvPr/>
        </p:nvSpPr>
        <p:spPr>
          <a:xfrm>
            <a:off x="6172200" y="1691640"/>
            <a:ext cx="5439240" cy="447912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60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9"/>
          <p:cNvSpPr/>
          <p:nvPr/>
        </p:nvSpPr>
        <p:spPr>
          <a:xfrm>
            <a:off x="6446520" y="1920240"/>
            <a:ext cx="501480" cy="501480"/>
          </a:xfrm>
          <a:prstGeom prst="ellipse">
            <a:avLst/>
          </a:prstGeom>
          <a:solidFill>
            <a:srgbClr val="D9DC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Image 1" descr="/home/claude/deck/icons/alert_1E2761.png"/>
          <p:cNvPicPr/>
          <p:nvPr/>
        </p:nvPicPr>
        <p:blipFill>
          <a:blip r:embed="rId2"/>
          <a:stretch/>
        </p:blipFill>
        <p:spPr>
          <a:xfrm>
            <a:off x="6507000" y="1980720"/>
            <a:ext cx="380880" cy="38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 20"/>
          <p:cNvSpPr/>
          <p:nvPr/>
        </p:nvSpPr>
        <p:spPr>
          <a:xfrm>
            <a:off x="7086600" y="1993320"/>
            <a:ext cx="4113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7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Exclu du périmètre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1"/>
          <p:cNvSpPr/>
          <p:nvPr/>
        </p:nvSpPr>
        <p:spPr>
          <a:xfrm>
            <a:off x="6492240" y="2606040"/>
            <a:ext cx="2728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•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2"/>
          <p:cNvSpPr/>
          <p:nvPr/>
        </p:nvSpPr>
        <p:spPr>
          <a:xfrm>
            <a:off x="6766560" y="2606040"/>
            <a:ext cx="46620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Gestion de la paie des enseignants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3"/>
          <p:cNvSpPr/>
          <p:nvPr/>
        </p:nvSpPr>
        <p:spPr>
          <a:xfrm>
            <a:off x="6492240" y="3136320"/>
            <a:ext cx="2728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•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4"/>
          <p:cNvSpPr/>
          <p:nvPr/>
        </p:nvSpPr>
        <p:spPr>
          <a:xfrm>
            <a:off x="6766560" y="3136320"/>
            <a:ext cx="46620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Inscriptions administratives et paiement des frais de scolarité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5"/>
          <p:cNvSpPr/>
          <p:nvPr/>
        </p:nvSpPr>
        <p:spPr>
          <a:xfrm>
            <a:off x="6492240" y="3666600"/>
            <a:ext cx="2728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•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6"/>
          <p:cNvSpPr/>
          <p:nvPr/>
        </p:nvSpPr>
        <p:spPr>
          <a:xfrm>
            <a:off x="6766560" y="3666600"/>
            <a:ext cx="46620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Emploi du temps et gestion des salles de cours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7"/>
          <p:cNvSpPr/>
          <p:nvPr/>
        </p:nvSpPr>
        <p:spPr>
          <a:xfrm>
            <a:off x="6492240" y="4197240"/>
            <a:ext cx="2728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•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8"/>
          <p:cNvSpPr/>
          <p:nvPr/>
        </p:nvSpPr>
        <p:spPr>
          <a:xfrm>
            <a:off x="6766560" y="4197240"/>
            <a:ext cx="46620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Plateforme de cours en ligne (e-learning)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9"/>
          <p:cNvSpPr/>
          <p:nvPr/>
        </p:nvSpPr>
        <p:spPr>
          <a:xfrm>
            <a:off x="11521440" y="649224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30"/>
          <p:cNvSpPr/>
          <p:nvPr/>
        </p:nvSpPr>
        <p:spPr>
          <a:xfrm>
            <a:off x="457200" y="6492240"/>
            <a:ext cx="4570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Gestion des Notes  d'une Université – Système LMD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548640" y="384120"/>
            <a:ext cx="9142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pc="201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DOMAINE MÉTIER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548640" y="658440"/>
            <a:ext cx="1078848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Le système LMD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"/>
          <p:cNvSpPr/>
          <p:nvPr/>
        </p:nvSpPr>
        <p:spPr>
          <a:xfrm>
            <a:off x="548640" y="1353240"/>
            <a:ext cx="1005840" cy="360"/>
          </a:xfrm>
          <a:prstGeom prst="line">
            <a:avLst/>
          </a:prstGeom>
          <a:ln w="31680">
            <a:solidFill>
              <a:srgbClr val="C9A2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"/>
          <p:cNvSpPr/>
          <p:nvPr/>
        </p:nvSpPr>
        <p:spPr>
          <a:xfrm>
            <a:off x="548640" y="1828800"/>
            <a:ext cx="1751040" cy="95868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548640" y="1828800"/>
            <a:ext cx="175104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Université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2283120" y="1783080"/>
            <a:ext cx="27288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000" b="1" u="none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6"/>
          <p:cNvSpPr/>
          <p:nvPr/>
        </p:nvSpPr>
        <p:spPr>
          <a:xfrm>
            <a:off x="2410920" y="1828800"/>
            <a:ext cx="1751040" cy="958680"/>
          </a:xfrm>
          <a:prstGeom prst="roundRect">
            <a:avLst>
              <a:gd name="adj" fmla="val 5714"/>
            </a:avLst>
          </a:prstGeom>
          <a:solidFill>
            <a:srgbClr val="2E3A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7"/>
          <p:cNvSpPr/>
          <p:nvPr/>
        </p:nvSpPr>
        <p:spPr>
          <a:xfrm>
            <a:off x="2410920" y="1828800"/>
            <a:ext cx="175104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Faculté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8"/>
          <p:cNvSpPr/>
          <p:nvPr/>
        </p:nvSpPr>
        <p:spPr>
          <a:xfrm>
            <a:off x="4145400" y="1783080"/>
            <a:ext cx="27288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000" b="1" u="none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9"/>
          <p:cNvSpPr/>
          <p:nvPr/>
        </p:nvSpPr>
        <p:spPr>
          <a:xfrm>
            <a:off x="4273200" y="1828800"/>
            <a:ext cx="1751040" cy="95868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4273200" y="1828800"/>
            <a:ext cx="175104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Département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1"/>
          <p:cNvSpPr/>
          <p:nvPr/>
        </p:nvSpPr>
        <p:spPr>
          <a:xfrm>
            <a:off x="6007680" y="1783080"/>
            <a:ext cx="27288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000" b="1" u="none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2"/>
          <p:cNvSpPr/>
          <p:nvPr/>
        </p:nvSpPr>
        <p:spPr>
          <a:xfrm>
            <a:off x="6135480" y="1828800"/>
            <a:ext cx="1751040" cy="958680"/>
          </a:xfrm>
          <a:prstGeom prst="roundRect">
            <a:avLst>
              <a:gd name="adj" fmla="val 5714"/>
            </a:avLst>
          </a:prstGeom>
          <a:solidFill>
            <a:srgbClr val="2E3A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3"/>
          <p:cNvSpPr/>
          <p:nvPr/>
        </p:nvSpPr>
        <p:spPr>
          <a:xfrm>
            <a:off x="6135480" y="1828800"/>
            <a:ext cx="175104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Filière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4"/>
          <p:cNvSpPr/>
          <p:nvPr/>
        </p:nvSpPr>
        <p:spPr>
          <a:xfrm>
            <a:off x="7869960" y="1783080"/>
            <a:ext cx="27288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000" b="1" u="none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5"/>
          <p:cNvSpPr/>
          <p:nvPr/>
        </p:nvSpPr>
        <p:spPr>
          <a:xfrm>
            <a:off x="7998120" y="1828800"/>
            <a:ext cx="1751040" cy="95868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6"/>
          <p:cNvSpPr/>
          <p:nvPr/>
        </p:nvSpPr>
        <p:spPr>
          <a:xfrm>
            <a:off x="7998120" y="1828800"/>
            <a:ext cx="175104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Niveau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7"/>
          <p:cNvSpPr/>
          <p:nvPr/>
        </p:nvSpPr>
        <p:spPr>
          <a:xfrm>
            <a:off x="9732240" y="1783080"/>
            <a:ext cx="27288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000" b="1" u="none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8"/>
          <p:cNvSpPr/>
          <p:nvPr/>
        </p:nvSpPr>
        <p:spPr>
          <a:xfrm>
            <a:off x="9860400" y="1828800"/>
            <a:ext cx="1751040" cy="958680"/>
          </a:xfrm>
          <a:prstGeom prst="roundRect">
            <a:avLst>
              <a:gd name="adj" fmla="val 5714"/>
            </a:avLst>
          </a:prstGeom>
          <a:solidFill>
            <a:srgbClr val="2E3A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9"/>
          <p:cNvSpPr/>
          <p:nvPr/>
        </p:nvSpPr>
        <p:spPr>
          <a:xfrm>
            <a:off x="9860400" y="1828800"/>
            <a:ext cx="175104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Classe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0"/>
          <p:cNvSpPr/>
          <p:nvPr/>
        </p:nvSpPr>
        <p:spPr>
          <a:xfrm>
            <a:off x="548640" y="2971800"/>
            <a:ext cx="110628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Chaque niveau (L1, L2, L3, M1, M2) accueille chaque année un effectif variable d'étudiants regroupés en classes.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1"/>
          <p:cNvSpPr/>
          <p:nvPr/>
        </p:nvSpPr>
        <p:spPr>
          <a:xfrm>
            <a:off x="548640" y="3611880"/>
            <a:ext cx="7313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pc="99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PONDÉRATION DES ÉVALUATIONS PAR MATIÈRE (EC)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2"/>
          <p:cNvSpPr/>
          <p:nvPr/>
        </p:nvSpPr>
        <p:spPr>
          <a:xfrm>
            <a:off x="548640" y="4023360"/>
            <a:ext cx="5347800" cy="214740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60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3"/>
          <p:cNvSpPr/>
          <p:nvPr/>
        </p:nvSpPr>
        <p:spPr>
          <a:xfrm>
            <a:off x="822960" y="4160520"/>
            <a:ext cx="47534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5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UE avec Travaux Pratiques</a:t>
            </a:r>
            <a:endParaRPr lang="fr-F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24"/>
          <p:cNvSpPr/>
          <p:nvPr/>
        </p:nvSpPr>
        <p:spPr>
          <a:xfrm>
            <a:off x="822960" y="4709160"/>
            <a:ext cx="958680" cy="455760"/>
          </a:xfrm>
          <a:prstGeom prst="rect">
            <a:avLst/>
          </a:prstGeom>
          <a:solidFill>
            <a:srgbClr val="C9A227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5"/>
          <p:cNvSpPr/>
          <p:nvPr/>
        </p:nvSpPr>
        <p:spPr>
          <a:xfrm>
            <a:off x="822960" y="4709160"/>
            <a:ext cx="9586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20%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6"/>
          <p:cNvSpPr/>
          <p:nvPr/>
        </p:nvSpPr>
        <p:spPr>
          <a:xfrm>
            <a:off x="1783080" y="4709160"/>
            <a:ext cx="1438920" cy="455760"/>
          </a:xfrm>
          <a:prstGeom prst="rect">
            <a:avLst/>
          </a:prstGeom>
          <a:solidFill>
            <a:srgbClr val="1E2761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7"/>
          <p:cNvSpPr/>
          <p:nvPr/>
        </p:nvSpPr>
        <p:spPr>
          <a:xfrm>
            <a:off x="1783080" y="4709160"/>
            <a:ext cx="14389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30%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8"/>
          <p:cNvSpPr/>
          <p:nvPr/>
        </p:nvSpPr>
        <p:spPr>
          <a:xfrm>
            <a:off x="3223440" y="4709160"/>
            <a:ext cx="2399040" cy="455760"/>
          </a:xfrm>
          <a:prstGeom prst="rect">
            <a:avLst/>
          </a:prstGeom>
          <a:solidFill>
            <a:srgbClr val="CADCFC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9"/>
          <p:cNvSpPr/>
          <p:nvPr/>
        </p:nvSpPr>
        <p:spPr>
          <a:xfrm>
            <a:off x="3223440" y="4709160"/>
            <a:ext cx="23990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50%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30"/>
          <p:cNvSpPr/>
          <p:nvPr/>
        </p:nvSpPr>
        <p:spPr>
          <a:xfrm>
            <a:off x="822960" y="5349240"/>
            <a:ext cx="144720" cy="144720"/>
          </a:xfrm>
          <a:prstGeom prst="rect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360" tIns="45000" rIns="7236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1"/>
          <p:cNvSpPr/>
          <p:nvPr/>
        </p:nvSpPr>
        <p:spPr>
          <a:xfrm>
            <a:off x="1024200" y="5294520"/>
            <a:ext cx="1461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CC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32"/>
          <p:cNvSpPr/>
          <p:nvPr/>
        </p:nvSpPr>
        <p:spPr>
          <a:xfrm>
            <a:off x="2514600" y="5349240"/>
            <a:ext cx="144720" cy="1447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360" tIns="45000" rIns="7236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3"/>
          <p:cNvSpPr/>
          <p:nvPr/>
        </p:nvSpPr>
        <p:spPr>
          <a:xfrm>
            <a:off x="2715840" y="5294520"/>
            <a:ext cx="1461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TP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34"/>
          <p:cNvSpPr/>
          <p:nvPr/>
        </p:nvSpPr>
        <p:spPr>
          <a:xfrm>
            <a:off x="4206240" y="5349240"/>
            <a:ext cx="144720" cy="144720"/>
          </a:xfrm>
          <a:prstGeom prst="rect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360" tIns="45000" rIns="7236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5"/>
          <p:cNvSpPr/>
          <p:nvPr/>
        </p:nvSpPr>
        <p:spPr>
          <a:xfrm>
            <a:off x="4407480" y="5294520"/>
            <a:ext cx="1461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SN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36"/>
          <p:cNvSpPr/>
          <p:nvPr/>
        </p:nvSpPr>
        <p:spPr>
          <a:xfrm>
            <a:off x="6080760" y="4023360"/>
            <a:ext cx="5347800" cy="214740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60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37"/>
          <p:cNvSpPr/>
          <p:nvPr/>
        </p:nvSpPr>
        <p:spPr>
          <a:xfrm>
            <a:off x="6355080" y="4160520"/>
            <a:ext cx="47534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5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UE sans Travaux Pratiques</a:t>
            </a:r>
            <a:endParaRPr lang="fr-F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38"/>
          <p:cNvSpPr/>
          <p:nvPr/>
        </p:nvSpPr>
        <p:spPr>
          <a:xfrm>
            <a:off x="6355080" y="4709160"/>
            <a:ext cx="1438920" cy="455760"/>
          </a:xfrm>
          <a:prstGeom prst="rect">
            <a:avLst/>
          </a:prstGeom>
          <a:solidFill>
            <a:srgbClr val="C9A227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39"/>
          <p:cNvSpPr/>
          <p:nvPr/>
        </p:nvSpPr>
        <p:spPr>
          <a:xfrm>
            <a:off x="6355080" y="4709160"/>
            <a:ext cx="14389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30%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40"/>
          <p:cNvSpPr/>
          <p:nvPr/>
        </p:nvSpPr>
        <p:spPr>
          <a:xfrm>
            <a:off x="7795440" y="4709160"/>
            <a:ext cx="3359160" cy="455760"/>
          </a:xfrm>
          <a:prstGeom prst="rect">
            <a:avLst/>
          </a:prstGeom>
          <a:solidFill>
            <a:srgbClr val="1E2761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41"/>
          <p:cNvSpPr/>
          <p:nvPr/>
        </p:nvSpPr>
        <p:spPr>
          <a:xfrm>
            <a:off x="7795440" y="4709160"/>
            <a:ext cx="3359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70%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42"/>
          <p:cNvSpPr/>
          <p:nvPr/>
        </p:nvSpPr>
        <p:spPr>
          <a:xfrm>
            <a:off x="6355080" y="5349240"/>
            <a:ext cx="144720" cy="144720"/>
          </a:xfrm>
          <a:prstGeom prst="rect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360" tIns="45000" rIns="7236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3"/>
          <p:cNvSpPr/>
          <p:nvPr/>
        </p:nvSpPr>
        <p:spPr>
          <a:xfrm>
            <a:off x="6556320" y="5294520"/>
            <a:ext cx="1461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CC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44"/>
          <p:cNvSpPr/>
          <p:nvPr/>
        </p:nvSpPr>
        <p:spPr>
          <a:xfrm>
            <a:off x="8046720" y="5349240"/>
            <a:ext cx="144720" cy="1447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360" tIns="45000" rIns="7236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45"/>
          <p:cNvSpPr/>
          <p:nvPr/>
        </p:nvSpPr>
        <p:spPr>
          <a:xfrm>
            <a:off x="8247960" y="5294520"/>
            <a:ext cx="1461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SN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46"/>
          <p:cNvSpPr/>
          <p:nvPr/>
        </p:nvSpPr>
        <p:spPr>
          <a:xfrm>
            <a:off x="11521440" y="649224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47"/>
          <p:cNvSpPr/>
          <p:nvPr/>
        </p:nvSpPr>
        <p:spPr>
          <a:xfrm>
            <a:off x="457200" y="6492240"/>
            <a:ext cx="4570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Gestion des Notes  d'une Université – Système LMD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548640" y="384120"/>
            <a:ext cx="9142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pc="201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ANALYSE DES BESOINS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548640" y="658440"/>
            <a:ext cx="1078848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Les acteurs du système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"/>
          <p:cNvSpPr/>
          <p:nvPr/>
        </p:nvSpPr>
        <p:spPr>
          <a:xfrm>
            <a:off x="548640" y="1353240"/>
            <a:ext cx="1005840" cy="360"/>
          </a:xfrm>
          <a:prstGeom prst="line">
            <a:avLst/>
          </a:prstGeom>
          <a:ln w="31680">
            <a:solidFill>
              <a:srgbClr val="C9A2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3"/>
          <p:cNvSpPr/>
          <p:nvPr/>
        </p:nvSpPr>
        <p:spPr>
          <a:xfrm>
            <a:off x="548640" y="1737360"/>
            <a:ext cx="3592080" cy="443340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1260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4"/>
          <p:cNvSpPr/>
          <p:nvPr/>
        </p:nvSpPr>
        <p:spPr>
          <a:xfrm>
            <a:off x="548640" y="1737360"/>
            <a:ext cx="3592080" cy="137016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5"/>
          <p:cNvSpPr/>
          <p:nvPr/>
        </p:nvSpPr>
        <p:spPr>
          <a:xfrm>
            <a:off x="1979640" y="1874520"/>
            <a:ext cx="730080" cy="73008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Image 0" descr="/home/claude/deck/icons/user_1E2761.png"/>
          <p:cNvPicPr/>
          <p:nvPr/>
        </p:nvPicPr>
        <p:blipFill>
          <a:blip r:embed="rId1"/>
          <a:stretch/>
        </p:blipFill>
        <p:spPr>
          <a:xfrm>
            <a:off x="2067480" y="1962360"/>
            <a:ext cx="554400" cy="55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 6"/>
          <p:cNvSpPr/>
          <p:nvPr/>
        </p:nvSpPr>
        <p:spPr>
          <a:xfrm>
            <a:off x="685800" y="2697480"/>
            <a:ext cx="33177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Étudiant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7"/>
          <p:cNvSpPr/>
          <p:nvPr/>
        </p:nvSpPr>
        <p:spPr>
          <a:xfrm>
            <a:off x="804600" y="3538800"/>
            <a:ext cx="254520" cy="25452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8" name="Image 1" descr="/home/claude/deck/icons/check_1E2761.png"/>
          <p:cNvPicPr/>
          <p:nvPr/>
        </p:nvPicPr>
        <p:blipFill>
          <a:blip r:embed="rId2"/>
          <a:stretch/>
        </p:blipFill>
        <p:spPr>
          <a:xfrm>
            <a:off x="835560" y="3569400"/>
            <a:ext cx="19332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Text 8"/>
          <p:cNvSpPr/>
          <p:nvPr/>
        </p:nvSpPr>
        <p:spPr>
          <a:xfrm>
            <a:off x="1170360" y="3465720"/>
            <a:ext cx="27234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1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S'authentifier et choisir ses matières (ou UE à reprendre)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9"/>
          <p:cNvSpPr/>
          <p:nvPr/>
        </p:nvSpPr>
        <p:spPr>
          <a:xfrm>
            <a:off x="804600" y="4380120"/>
            <a:ext cx="254520" cy="25452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1" name="Image 2" descr="/home/claude/deck/icons/check_1E2761.png"/>
          <p:cNvPicPr/>
          <p:nvPr/>
        </p:nvPicPr>
        <p:blipFill>
          <a:blip r:embed="rId3"/>
          <a:stretch/>
        </p:blipFill>
        <p:spPr>
          <a:xfrm>
            <a:off x="835560" y="4410720"/>
            <a:ext cx="19332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Text 10"/>
          <p:cNvSpPr/>
          <p:nvPr/>
        </p:nvSpPr>
        <p:spPr>
          <a:xfrm>
            <a:off x="1170360" y="4306680"/>
            <a:ext cx="27234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1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Consulter ses notes et son bulletin (semestriel / annuel)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1"/>
          <p:cNvSpPr/>
          <p:nvPr/>
        </p:nvSpPr>
        <p:spPr>
          <a:xfrm>
            <a:off x="804600" y="5221080"/>
            <a:ext cx="254520" cy="25452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Image 3" descr="/home/claude/deck/icons/check_1E2761.png"/>
          <p:cNvPicPr/>
          <p:nvPr/>
        </p:nvPicPr>
        <p:blipFill>
          <a:blip r:embed="rId4"/>
          <a:stretch/>
        </p:blipFill>
        <p:spPr>
          <a:xfrm>
            <a:off x="835560" y="5252040"/>
            <a:ext cx="19332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Text 12"/>
          <p:cNvSpPr/>
          <p:nvPr/>
        </p:nvSpPr>
        <p:spPr>
          <a:xfrm>
            <a:off x="1170360" y="5148000"/>
            <a:ext cx="27234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1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Soumettre une requête en cas de note manquante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3"/>
          <p:cNvSpPr/>
          <p:nvPr/>
        </p:nvSpPr>
        <p:spPr>
          <a:xfrm>
            <a:off x="4279320" y="1737360"/>
            <a:ext cx="3592080" cy="443340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1260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4"/>
          <p:cNvSpPr/>
          <p:nvPr/>
        </p:nvSpPr>
        <p:spPr>
          <a:xfrm>
            <a:off x="4279320" y="1737360"/>
            <a:ext cx="3592080" cy="137016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5"/>
          <p:cNvSpPr/>
          <p:nvPr/>
        </p:nvSpPr>
        <p:spPr>
          <a:xfrm>
            <a:off x="5710320" y="1874520"/>
            <a:ext cx="730080" cy="73008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9" name="Image 4" descr="/home/claude/deck/icons/users_1E2761.png"/>
          <p:cNvPicPr/>
          <p:nvPr/>
        </p:nvPicPr>
        <p:blipFill>
          <a:blip r:embed="rId5"/>
          <a:stretch/>
        </p:blipFill>
        <p:spPr>
          <a:xfrm>
            <a:off x="5798160" y="1962360"/>
            <a:ext cx="554400" cy="55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Text 16"/>
          <p:cNvSpPr/>
          <p:nvPr/>
        </p:nvSpPr>
        <p:spPr>
          <a:xfrm>
            <a:off x="4416480" y="2697480"/>
            <a:ext cx="33177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Enseignant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7"/>
          <p:cNvSpPr/>
          <p:nvPr/>
        </p:nvSpPr>
        <p:spPr>
          <a:xfrm>
            <a:off x="4535280" y="3538800"/>
            <a:ext cx="254520" cy="25452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2" name="Image 5" descr="/home/claude/deck/icons/check_1E2761.png"/>
          <p:cNvPicPr/>
          <p:nvPr/>
        </p:nvPicPr>
        <p:blipFill>
          <a:blip r:embed="rId6"/>
          <a:stretch/>
        </p:blipFill>
        <p:spPr>
          <a:xfrm>
            <a:off x="4566240" y="3569400"/>
            <a:ext cx="19332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Text 18"/>
          <p:cNvSpPr/>
          <p:nvPr/>
        </p:nvSpPr>
        <p:spPr>
          <a:xfrm>
            <a:off x="4901040" y="3465720"/>
            <a:ext cx="27234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1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Sélectionner ses matières et consulter ses inscrits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9"/>
          <p:cNvSpPr/>
          <p:nvPr/>
        </p:nvSpPr>
        <p:spPr>
          <a:xfrm>
            <a:off x="4535280" y="4380120"/>
            <a:ext cx="254520" cy="25452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5" name="Image 6" descr="/home/claude/deck/icons/check_1E2761.png"/>
          <p:cNvPicPr/>
          <p:nvPr/>
        </p:nvPicPr>
        <p:blipFill>
          <a:blip r:embed="rId7"/>
          <a:stretch/>
        </p:blipFill>
        <p:spPr>
          <a:xfrm>
            <a:off x="4566240" y="4410720"/>
            <a:ext cx="19332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Text 20"/>
          <p:cNvSpPr/>
          <p:nvPr/>
        </p:nvSpPr>
        <p:spPr>
          <a:xfrm>
            <a:off x="4901040" y="4306680"/>
            <a:ext cx="27234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1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Saisir les notes et vérifier leur numérisation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21"/>
          <p:cNvSpPr/>
          <p:nvPr/>
        </p:nvSpPr>
        <p:spPr>
          <a:xfrm>
            <a:off x="4535280" y="5221080"/>
            <a:ext cx="254520" cy="25452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8" name="Image 7" descr="/home/claude/deck/icons/check_1E2761.png"/>
          <p:cNvPicPr/>
          <p:nvPr/>
        </p:nvPicPr>
        <p:blipFill>
          <a:blip r:embed="rId8"/>
          <a:stretch/>
        </p:blipFill>
        <p:spPr>
          <a:xfrm>
            <a:off x="4566240" y="5252040"/>
            <a:ext cx="19332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Text 22"/>
          <p:cNvSpPr/>
          <p:nvPr/>
        </p:nvSpPr>
        <p:spPr>
          <a:xfrm>
            <a:off x="4901040" y="5148000"/>
            <a:ext cx="27234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1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Traiter les requêtes des étudiants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3"/>
          <p:cNvSpPr/>
          <p:nvPr/>
        </p:nvSpPr>
        <p:spPr>
          <a:xfrm>
            <a:off x="8010000" y="1737360"/>
            <a:ext cx="3592080" cy="443340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1260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4"/>
          <p:cNvSpPr/>
          <p:nvPr/>
        </p:nvSpPr>
        <p:spPr>
          <a:xfrm>
            <a:off x="8010000" y="1737360"/>
            <a:ext cx="3592080" cy="137016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5"/>
          <p:cNvSpPr/>
          <p:nvPr/>
        </p:nvSpPr>
        <p:spPr>
          <a:xfrm>
            <a:off x="9441360" y="1874520"/>
            <a:ext cx="730080" cy="73008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3" name="Image 8" descr="/home/claude/deck/icons/server_1E2761.png"/>
          <p:cNvPicPr/>
          <p:nvPr/>
        </p:nvPicPr>
        <p:blipFill>
          <a:blip r:embed="rId9"/>
          <a:stretch/>
        </p:blipFill>
        <p:spPr>
          <a:xfrm>
            <a:off x="9528840" y="1962360"/>
            <a:ext cx="554400" cy="55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 26"/>
          <p:cNvSpPr/>
          <p:nvPr/>
        </p:nvSpPr>
        <p:spPr>
          <a:xfrm>
            <a:off x="8147160" y="2697480"/>
            <a:ext cx="33177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Agent — Cellule informatique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7"/>
          <p:cNvSpPr/>
          <p:nvPr/>
        </p:nvSpPr>
        <p:spPr>
          <a:xfrm>
            <a:off x="8266320" y="3538800"/>
            <a:ext cx="254520" cy="25452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Image 9" descr="/home/claude/deck/icons/check_1E2761.png"/>
          <p:cNvPicPr/>
          <p:nvPr/>
        </p:nvPicPr>
        <p:blipFill>
          <a:blip r:embed="rId10"/>
          <a:stretch/>
        </p:blipFill>
        <p:spPr>
          <a:xfrm>
            <a:off x="8296920" y="3569400"/>
            <a:ext cx="19332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Text 28"/>
          <p:cNvSpPr/>
          <p:nvPr/>
        </p:nvSpPr>
        <p:spPr>
          <a:xfrm>
            <a:off x="8632080" y="3465720"/>
            <a:ext cx="27234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1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Gérer la structure académique et créer les matières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9"/>
          <p:cNvSpPr/>
          <p:nvPr/>
        </p:nvSpPr>
        <p:spPr>
          <a:xfrm>
            <a:off x="8266320" y="4380120"/>
            <a:ext cx="254520" cy="25452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9" name="Image 10" descr="/home/claude/deck/icons/check_1E2761.png"/>
          <p:cNvPicPr/>
          <p:nvPr/>
        </p:nvPicPr>
        <p:blipFill>
          <a:blip r:embed="rId11"/>
          <a:stretch/>
        </p:blipFill>
        <p:spPr>
          <a:xfrm>
            <a:off x="8296920" y="4410720"/>
            <a:ext cx="19332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Text 30"/>
          <p:cNvSpPr/>
          <p:nvPr/>
        </p:nvSpPr>
        <p:spPr>
          <a:xfrm>
            <a:off x="8632080" y="4306680"/>
            <a:ext cx="27234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1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Numériser les notes et calculer la MGP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31"/>
          <p:cNvSpPr/>
          <p:nvPr/>
        </p:nvSpPr>
        <p:spPr>
          <a:xfrm>
            <a:off x="8266320" y="5221080"/>
            <a:ext cx="254520" cy="25452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2" name="Image 11" descr="/home/claude/deck/icons/check_1E2761.png"/>
          <p:cNvPicPr/>
          <p:nvPr/>
        </p:nvPicPr>
        <p:blipFill>
          <a:blip r:embed="rId12"/>
          <a:stretch/>
        </p:blipFill>
        <p:spPr>
          <a:xfrm>
            <a:off x="8296920" y="5252040"/>
            <a:ext cx="19332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Text 32"/>
          <p:cNvSpPr/>
          <p:nvPr/>
        </p:nvSpPr>
        <p:spPr>
          <a:xfrm>
            <a:off x="8632080" y="5148000"/>
            <a:ext cx="27234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1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Générer les bulletins et publier les résultats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33"/>
          <p:cNvSpPr/>
          <p:nvPr/>
        </p:nvSpPr>
        <p:spPr>
          <a:xfrm>
            <a:off x="11521440" y="649224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34"/>
          <p:cNvSpPr/>
          <p:nvPr/>
        </p:nvSpPr>
        <p:spPr>
          <a:xfrm>
            <a:off x="457200" y="6492240"/>
            <a:ext cx="4570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Gestion des Notes  d'une Université – Système LMD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0"/>
          <p:cNvSpPr/>
          <p:nvPr/>
        </p:nvSpPr>
        <p:spPr>
          <a:xfrm>
            <a:off x="548640" y="502920"/>
            <a:ext cx="547200" cy="54720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7" name="Image 0" descr="/home/claude/deck/icons/user_1E2761.png"/>
          <p:cNvPicPr/>
          <p:nvPr/>
        </p:nvPicPr>
        <p:blipFill>
          <a:blip r:embed="rId1"/>
          <a:stretch/>
        </p:blipFill>
        <p:spPr>
          <a:xfrm>
            <a:off x="614520" y="568800"/>
            <a:ext cx="415440" cy="41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Text 1"/>
          <p:cNvSpPr/>
          <p:nvPr/>
        </p:nvSpPr>
        <p:spPr>
          <a:xfrm>
            <a:off x="1234440" y="5029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100" b="1" u="none" spc="150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DIAGRAMME DE CAS D'UTILISATION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"/>
          <p:cNvSpPr/>
          <p:nvPr/>
        </p:nvSpPr>
        <p:spPr>
          <a:xfrm>
            <a:off x="1234440" y="749880"/>
            <a:ext cx="5942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Acteur Étudiant</a:t>
            </a:r>
            <a:endParaRPr lang="fr-F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3"/>
          <p:cNvSpPr/>
          <p:nvPr/>
        </p:nvSpPr>
        <p:spPr>
          <a:xfrm>
            <a:off x="548640" y="1508760"/>
            <a:ext cx="7359480" cy="489060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4"/>
          <p:cNvSpPr/>
          <p:nvPr/>
        </p:nvSpPr>
        <p:spPr>
          <a:xfrm>
            <a:off x="8229600" y="1600200"/>
            <a:ext cx="33818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pc="119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CAS D'UTILISATION CLÉS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5"/>
          <p:cNvSpPr/>
          <p:nvPr/>
        </p:nvSpPr>
        <p:spPr>
          <a:xfrm>
            <a:off x="8229600" y="2020680"/>
            <a:ext cx="81000" cy="8100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0680" tIns="13320" rIns="40680" bIns="133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6"/>
          <p:cNvSpPr/>
          <p:nvPr/>
        </p:nvSpPr>
        <p:spPr>
          <a:xfrm>
            <a:off x="8458200" y="1874520"/>
            <a:ext cx="31989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Choisir les matières de l'année / UE à reprendre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7"/>
          <p:cNvSpPr/>
          <p:nvPr/>
        </p:nvSpPr>
        <p:spPr>
          <a:xfrm>
            <a:off x="8229600" y="2679120"/>
            <a:ext cx="81000" cy="8100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0680" tIns="13320" rIns="40680" bIns="133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8"/>
          <p:cNvSpPr/>
          <p:nvPr/>
        </p:nvSpPr>
        <p:spPr>
          <a:xfrm>
            <a:off x="8458200" y="2532960"/>
            <a:ext cx="31989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Consulter ses notes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9"/>
          <p:cNvSpPr/>
          <p:nvPr/>
        </p:nvSpPr>
        <p:spPr>
          <a:xfrm>
            <a:off x="8229600" y="3337560"/>
            <a:ext cx="81000" cy="8100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0680" tIns="13320" rIns="40680" bIns="133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0"/>
          <p:cNvSpPr/>
          <p:nvPr/>
        </p:nvSpPr>
        <p:spPr>
          <a:xfrm>
            <a:off x="8458200" y="3191400"/>
            <a:ext cx="31989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Consulter son bulletin (semestriel ou annuel)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1"/>
          <p:cNvSpPr/>
          <p:nvPr/>
        </p:nvSpPr>
        <p:spPr>
          <a:xfrm>
            <a:off x="8229600" y="3996000"/>
            <a:ext cx="81000" cy="8100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0680" tIns="13320" rIns="40680" bIns="133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2"/>
          <p:cNvSpPr/>
          <p:nvPr/>
        </p:nvSpPr>
        <p:spPr>
          <a:xfrm>
            <a:off x="8458200" y="3849480"/>
            <a:ext cx="31989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Soumettre une requête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3"/>
          <p:cNvSpPr/>
          <p:nvPr/>
        </p:nvSpPr>
        <p:spPr>
          <a:xfrm>
            <a:off x="8229600" y="4736520"/>
            <a:ext cx="3198960" cy="11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fr-FR" sz="1000" b="0" i="1" u="none" strike="noStrike">
                <a:solidFill>
                  <a:srgbClr val="8E9BC9"/>
                </a:solidFill>
                <a:effectLst/>
                <a:uFillTx/>
                <a:latin typeface="Calibri"/>
                <a:ea typeface="Calibri"/>
              </a:rPr>
              <a:t>Précondition commune aux trois acteurs : authentification obligatoire avant toute action.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4"/>
          <p:cNvSpPr/>
          <p:nvPr/>
        </p:nvSpPr>
        <p:spPr>
          <a:xfrm>
            <a:off x="11521440" y="649224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5"/>
          <p:cNvSpPr/>
          <p:nvPr/>
        </p:nvSpPr>
        <p:spPr>
          <a:xfrm>
            <a:off x="457200" y="6492240"/>
            <a:ext cx="4570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Gestion des Notes  d'une Université – Système LMD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3" name="Picture 221" descr="uc_etudiant_hq.png"/>
          <p:cNvPicPr/>
          <p:nvPr/>
        </p:nvPicPr>
        <p:blipFill>
          <a:blip r:embed="rId2"/>
          <a:stretch/>
        </p:blipFill>
        <p:spPr>
          <a:xfrm>
            <a:off x="713160" y="1793880"/>
            <a:ext cx="7039440" cy="432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0"/>
          <p:cNvSpPr/>
          <p:nvPr/>
        </p:nvSpPr>
        <p:spPr>
          <a:xfrm>
            <a:off x="548640" y="502920"/>
            <a:ext cx="547200" cy="54720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5" name="Image 0" descr="/home/claude/deck/icons/users_1E2761.png"/>
          <p:cNvPicPr/>
          <p:nvPr/>
        </p:nvPicPr>
        <p:blipFill>
          <a:blip r:embed="rId1"/>
          <a:stretch/>
        </p:blipFill>
        <p:spPr>
          <a:xfrm>
            <a:off x="614520" y="568800"/>
            <a:ext cx="415440" cy="41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Text 1"/>
          <p:cNvSpPr/>
          <p:nvPr/>
        </p:nvSpPr>
        <p:spPr>
          <a:xfrm>
            <a:off x="1234440" y="5029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100" b="1" u="none" spc="150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DIAGRAMME DE CAS D'UTILISATION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"/>
          <p:cNvSpPr/>
          <p:nvPr/>
        </p:nvSpPr>
        <p:spPr>
          <a:xfrm>
            <a:off x="1234440" y="749880"/>
            <a:ext cx="5942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Acteur Enseignant</a:t>
            </a:r>
            <a:endParaRPr lang="fr-F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3"/>
          <p:cNvSpPr/>
          <p:nvPr/>
        </p:nvSpPr>
        <p:spPr>
          <a:xfrm>
            <a:off x="548640" y="1508760"/>
            <a:ext cx="7359480" cy="489060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4"/>
          <p:cNvSpPr/>
          <p:nvPr/>
        </p:nvSpPr>
        <p:spPr>
          <a:xfrm>
            <a:off x="8229600" y="1600200"/>
            <a:ext cx="33818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pc="119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CAS D'UTILISATION CLÉS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5"/>
          <p:cNvSpPr/>
          <p:nvPr/>
        </p:nvSpPr>
        <p:spPr>
          <a:xfrm>
            <a:off x="8229600" y="2020680"/>
            <a:ext cx="81000" cy="8100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0680" tIns="13320" rIns="40680" bIns="133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6"/>
          <p:cNvSpPr/>
          <p:nvPr/>
        </p:nvSpPr>
        <p:spPr>
          <a:xfrm>
            <a:off x="8458200" y="1874520"/>
            <a:ext cx="31989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Sélectionner ses matières et salles enseignées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7"/>
          <p:cNvSpPr/>
          <p:nvPr/>
        </p:nvSpPr>
        <p:spPr>
          <a:xfrm>
            <a:off x="8229600" y="2679120"/>
            <a:ext cx="81000" cy="8100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0680" tIns="13320" rIns="40680" bIns="133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8"/>
          <p:cNvSpPr/>
          <p:nvPr/>
        </p:nvSpPr>
        <p:spPr>
          <a:xfrm>
            <a:off x="8458200" y="2532960"/>
            <a:ext cx="31989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Consulter la liste des étudiants inscrits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9"/>
          <p:cNvSpPr/>
          <p:nvPr/>
        </p:nvSpPr>
        <p:spPr>
          <a:xfrm>
            <a:off x="8229600" y="3337560"/>
            <a:ext cx="81000" cy="8100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0680" tIns="13320" rIns="40680" bIns="133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0"/>
          <p:cNvSpPr/>
          <p:nvPr/>
        </p:nvSpPr>
        <p:spPr>
          <a:xfrm>
            <a:off x="8458200" y="3191400"/>
            <a:ext cx="31989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Saisir les notes et transmettre à la cellule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1"/>
          <p:cNvSpPr/>
          <p:nvPr/>
        </p:nvSpPr>
        <p:spPr>
          <a:xfrm>
            <a:off x="8229600" y="3996000"/>
            <a:ext cx="81000" cy="8100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0680" tIns="13320" rIns="40680" bIns="133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2"/>
          <p:cNvSpPr/>
          <p:nvPr/>
        </p:nvSpPr>
        <p:spPr>
          <a:xfrm>
            <a:off x="8458200" y="3849480"/>
            <a:ext cx="31989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Vérifier les notes numérisées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3"/>
          <p:cNvSpPr/>
          <p:nvPr/>
        </p:nvSpPr>
        <p:spPr>
          <a:xfrm>
            <a:off x="8229600" y="4654440"/>
            <a:ext cx="81000" cy="8100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0680" tIns="13320" rIns="40680" bIns="133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4"/>
          <p:cNvSpPr/>
          <p:nvPr/>
        </p:nvSpPr>
        <p:spPr>
          <a:xfrm>
            <a:off x="8458200" y="4507920"/>
            <a:ext cx="31989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Traiter une requête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5"/>
          <p:cNvSpPr/>
          <p:nvPr/>
        </p:nvSpPr>
        <p:spPr>
          <a:xfrm>
            <a:off x="8229600" y="5394960"/>
            <a:ext cx="3198960" cy="11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fr-FR" sz="1000" b="0" i="1" u="none" strike="noStrike">
                <a:solidFill>
                  <a:srgbClr val="8E9BC9"/>
                </a:solidFill>
                <a:effectLst/>
                <a:uFillTx/>
                <a:latin typeface="Calibri"/>
                <a:ea typeface="Calibri"/>
              </a:rPr>
              <a:t>Le circuit de vérification des notes numérisées relie directement l'enseignant à l'agent de la cellule informatique.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6"/>
          <p:cNvSpPr/>
          <p:nvPr/>
        </p:nvSpPr>
        <p:spPr>
          <a:xfrm>
            <a:off x="11521440" y="649224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7"/>
          <p:cNvSpPr/>
          <p:nvPr/>
        </p:nvSpPr>
        <p:spPr>
          <a:xfrm>
            <a:off x="457200" y="6492240"/>
            <a:ext cx="4570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Gestion des Notes  d'une Université – Système LMD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3" name="Picture 241" descr="uc_enseignant_hq.png"/>
          <p:cNvPicPr/>
          <p:nvPr/>
        </p:nvPicPr>
        <p:blipFill>
          <a:blip r:embed="rId2"/>
          <a:stretch/>
        </p:blipFill>
        <p:spPr>
          <a:xfrm>
            <a:off x="817560" y="1645920"/>
            <a:ext cx="6830640" cy="4616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0"/>
          <p:cNvSpPr/>
          <p:nvPr/>
        </p:nvSpPr>
        <p:spPr>
          <a:xfrm>
            <a:off x="548640" y="502920"/>
            <a:ext cx="547200" cy="54720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5" name="Image 0" descr="/home/claude/deck/icons/server_1E2761.png"/>
          <p:cNvPicPr/>
          <p:nvPr/>
        </p:nvPicPr>
        <p:blipFill>
          <a:blip r:embed="rId1"/>
          <a:stretch/>
        </p:blipFill>
        <p:spPr>
          <a:xfrm>
            <a:off x="614520" y="568800"/>
            <a:ext cx="415440" cy="41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Text 1"/>
          <p:cNvSpPr/>
          <p:nvPr/>
        </p:nvSpPr>
        <p:spPr>
          <a:xfrm>
            <a:off x="1234440" y="5029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100" b="1" u="none" spc="150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DIAGRAMME DE CAS D'UTILISATION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"/>
          <p:cNvSpPr/>
          <p:nvPr/>
        </p:nvSpPr>
        <p:spPr>
          <a:xfrm>
            <a:off x="1234440" y="749880"/>
            <a:ext cx="5942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Acteur Agent — Cellule informatique</a:t>
            </a:r>
            <a:endParaRPr lang="fr-F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3"/>
          <p:cNvSpPr/>
          <p:nvPr/>
        </p:nvSpPr>
        <p:spPr>
          <a:xfrm>
            <a:off x="548640" y="1508760"/>
            <a:ext cx="7359480" cy="489060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4"/>
          <p:cNvSpPr/>
          <p:nvPr/>
        </p:nvSpPr>
        <p:spPr>
          <a:xfrm>
            <a:off x="8229600" y="1600200"/>
            <a:ext cx="33818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pc="119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CAS D'UTILISATION CLÉS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5"/>
          <p:cNvSpPr/>
          <p:nvPr/>
        </p:nvSpPr>
        <p:spPr>
          <a:xfrm>
            <a:off x="8229600" y="2020680"/>
            <a:ext cx="81000" cy="8100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0680" tIns="13320" rIns="40680" bIns="133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6"/>
          <p:cNvSpPr/>
          <p:nvPr/>
        </p:nvSpPr>
        <p:spPr>
          <a:xfrm>
            <a:off x="8458200" y="1874520"/>
            <a:ext cx="31989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Gérer la structure académique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7"/>
          <p:cNvSpPr/>
          <p:nvPr/>
        </p:nvSpPr>
        <p:spPr>
          <a:xfrm>
            <a:off x="8229600" y="2679120"/>
            <a:ext cx="81000" cy="8100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0680" tIns="13320" rIns="40680" bIns="133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8"/>
          <p:cNvSpPr/>
          <p:nvPr/>
        </p:nvSpPr>
        <p:spPr>
          <a:xfrm>
            <a:off x="8458200" y="2532960"/>
            <a:ext cx="31989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Créer les matières par classe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9"/>
          <p:cNvSpPr/>
          <p:nvPr/>
        </p:nvSpPr>
        <p:spPr>
          <a:xfrm>
            <a:off x="8229600" y="3337560"/>
            <a:ext cx="81000" cy="8100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0680" tIns="13320" rIns="40680" bIns="133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0"/>
          <p:cNvSpPr/>
          <p:nvPr/>
        </p:nvSpPr>
        <p:spPr>
          <a:xfrm>
            <a:off x="8458200" y="3191400"/>
            <a:ext cx="31989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Numériser les notes reçues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11"/>
          <p:cNvSpPr/>
          <p:nvPr/>
        </p:nvSpPr>
        <p:spPr>
          <a:xfrm>
            <a:off x="8229600" y="3996000"/>
            <a:ext cx="81000" cy="8100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0680" tIns="13320" rIns="40680" bIns="133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2"/>
          <p:cNvSpPr/>
          <p:nvPr/>
        </p:nvSpPr>
        <p:spPr>
          <a:xfrm>
            <a:off x="8458200" y="3849480"/>
            <a:ext cx="31989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Calculer la MGP et générer les bulletins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3"/>
          <p:cNvSpPr/>
          <p:nvPr/>
        </p:nvSpPr>
        <p:spPr>
          <a:xfrm>
            <a:off x="8229600" y="4654440"/>
            <a:ext cx="81000" cy="8100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0680" tIns="13320" rIns="40680" bIns="133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4"/>
          <p:cNvSpPr/>
          <p:nvPr/>
        </p:nvSpPr>
        <p:spPr>
          <a:xfrm>
            <a:off x="8458200" y="4507920"/>
            <a:ext cx="31989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Publier les résultats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5"/>
          <p:cNvSpPr/>
          <p:nvPr/>
        </p:nvSpPr>
        <p:spPr>
          <a:xfrm>
            <a:off x="8229600" y="5394960"/>
            <a:ext cx="3198960" cy="11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fr-FR" sz="1000" b="0" i="1" u="none" strike="noStrike">
                <a:solidFill>
                  <a:srgbClr val="8E9BC9"/>
                </a:solidFill>
                <a:effectLst/>
                <a:uFillTx/>
                <a:latin typeface="Calibri"/>
                <a:ea typeface="Calibri"/>
              </a:rPr>
              <a:t>Rôle central du circuit : réception, numérisation, calcul et publication des résultats.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6"/>
          <p:cNvSpPr/>
          <p:nvPr/>
        </p:nvSpPr>
        <p:spPr>
          <a:xfrm>
            <a:off x="11521440" y="649224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7"/>
          <p:cNvSpPr/>
          <p:nvPr/>
        </p:nvSpPr>
        <p:spPr>
          <a:xfrm>
            <a:off x="457200" y="6492240"/>
            <a:ext cx="4570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Gestion des Notes  d'une Université – Système LMD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3" name="Picture 261" descr="uc_agent_hq.png"/>
          <p:cNvPicPr/>
          <p:nvPr/>
        </p:nvPicPr>
        <p:blipFill>
          <a:blip r:embed="rId2"/>
          <a:stretch/>
        </p:blipFill>
        <p:spPr>
          <a:xfrm>
            <a:off x="844920" y="1645920"/>
            <a:ext cx="6775920" cy="4616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 0"/>
          <p:cNvSpPr/>
          <p:nvPr/>
        </p:nvSpPr>
        <p:spPr>
          <a:xfrm>
            <a:off x="548640" y="384120"/>
            <a:ext cx="9142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pc="201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SCÉNARIO D'UTILISATION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"/>
          <p:cNvSpPr/>
          <p:nvPr/>
        </p:nvSpPr>
        <p:spPr>
          <a:xfrm>
            <a:off x="548640" y="658440"/>
            <a:ext cx="1078848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Cycle de vie de la publication des notes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"/>
          <p:cNvSpPr/>
          <p:nvPr/>
        </p:nvSpPr>
        <p:spPr>
          <a:xfrm>
            <a:off x="548640" y="1353240"/>
            <a:ext cx="1005840" cy="360"/>
          </a:xfrm>
          <a:prstGeom prst="line">
            <a:avLst/>
          </a:prstGeom>
          <a:ln w="31680">
            <a:solidFill>
              <a:srgbClr val="C9A2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3"/>
          <p:cNvSpPr/>
          <p:nvPr/>
        </p:nvSpPr>
        <p:spPr>
          <a:xfrm>
            <a:off x="548640" y="1417320"/>
            <a:ext cx="10971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Scénario nominal — de la saisie des notes par l'enseignant jusqu'à la consultation par l'étudiant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4"/>
          <p:cNvSpPr/>
          <p:nvPr/>
        </p:nvSpPr>
        <p:spPr>
          <a:xfrm>
            <a:off x="548640" y="1965960"/>
            <a:ext cx="2064960" cy="3244680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 w="1260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5"/>
          <p:cNvSpPr/>
          <p:nvPr/>
        </p:nvSpPr>
        <p:spPr>
          <a:xfrm>
            <a:off x="1261800" y="2194560"/>
            <a:ext cx="638640" cy="638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6"/>
          <p:cNvSpPr/>
          <p:nvPr/>
        </p:nvSpPr>
        <p:spPr>
          <a:xfrm>
            <a:off x="1261800" y="2194560"/>
            <a:ext cx="6386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000" b="1" u="none" strike="noStrike">
                <a:solidFill>
                  <a:srgbClr val="C9A227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1" name="Image 0" descr="/home/claude/deck/icons/clipboard_1E2761.png"/>
          <p:cNvPicPr/>
          <p:nvPr/>
        </p:nvPicPr>
        <p:blipFill>
          <a:blip r:embed="rId1"/>
          <a:stretch/>
        </p:blipFill>
        <p:spPr>
          <a:xfrm>
            <a:off x="1380600" y="2971800"/>
            <a:ext cx="401040" cy="40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Text 7"/>
          <p:cNvSpPr/>
          <p:nvPr/>
        </p:nvSpPr>
        <p:spPr>
          <a:xfrm>
            <a:off x="658440" y="3447360"/>
            <a:ext cx="184572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301"/>
              </a:lnSpc>
              <a:tabLst>
                <a:tab pos="0" algn="l"/>
              </a:tabLst>
            </a:pPr>
            <a:r>
              <a:rPr lang="fr-FR" sz="12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Évaluation &amp; saisie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8"/>
          <p:cNvSpPr/>
          <p:nvPr/>
        </p:nvSpPr>
        <p:spPr>
          <a:xfrm>
            <a:off x="685800" y="4050720"/>
            <a:ext cx="179064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199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L'enseignant évalue (CC/TP/SN) et saisit les notes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9"/>
          <p:cNvSpPr/>
          <p:nvPr/>
        </p:nvSpPr>
        <p:spPr>
          <a:xfrm>
            <a:off x="685800" y="4846320"/>
            <a:ext cx="1790640" cy="2728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0"/>
          <p:cNvSpPr/>
          <p:nvPr/>
        </p:nvSpPr>
        <p:spPr>
          <a:xfrm>
            <a:off x="685800" y="4846320"/>
            <a:ext cx="17906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Enseignant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1"/>
          <p:cNvSpPr/>
          <p:nvPr/>
        </p:nvSpPr>
        <p:spPr>
          <a:xfrm>
            <a:off x="2624400" y="3246120"/>
            <a:ext cx="1724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6400" tIns="45000" rIns="864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800" b="1" u="none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2"/>
          <p:cNvSpPr/>
          <p:nvPr/>
        </p:nvSpPr>
        <p:spPr>
          <a:xfrm>
            <a:off x="2797920" y="1965960"/>
            <a:ext cx="2064960" cy="3244680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 w="1260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3"/>
          <p:cNvSpPr/>
          <p:nvPr/>
        </p:nvSpPr>
        <p:spPr>
          <a:xfrm>
            <a:off x="3511440" y="2194560"/>
            <a:ext cx="638640" cy="638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4"/>
          <p:cNvSpPr/>
          <p:nvPr/>
        </p:nvSpPr>
        <p:spPr>
          <a:xfrm>
            <a:off x="3511440" y="2194560"/>
            <a:ext cx="6386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000" b="1" u="none" strike="noStrike">
                <a:solidFill>
                  <a:srgbClr val="C9A227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0" name="Image 1" descr="/home/claude/deck/icons/send_1E2761.png"/>
          <p:cNvPicPr/>
          <p:nvPr/>
        </p:nvPicPr>
        <p:blipFill>
          <a:blip r:embed="rId2"/>
          <a:stretch/>
        </p:blipFill>
        <p:spPr>
          <a:xfrm>
            <a:off x="3630240" y="2971800"/>
            <a:ext cx="401040" cy="40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Text 15"/>
          <p:cNvSpPr/>
          <p:nvPr/>
        </p:nvSpPr>
        <p:spPr>
          <a:xfrm>
            <a:off x="2907720" y="3447360"/>
            <a:ext cx="184572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301"/>
              </a:lnSpc>
              <a:tabLst>
                <a:tab pos="0" algn="l"/>
              </a:tabLst>
            </a:pPr>
            <a:r>
              <a:rPr lang="fr-FR" sz="12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Transmission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6"/>
          <p:cNvSpPr/>
          <p:nvPr/>
        </p:nvSpPr>
        <p:spPr>
          <a:xfrm>
            <a:off x="2935080" y="4050720"/>
            <a:ext cx="179064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199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Les notes sont transmises à la cellule informatique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7"/>
          <p:cNvSpPr/>
          <p:nvPr/>
        </p:nvSpPr>
        <p:spPr>
          <a:xfrm>
            <a:off x="2935080" y="4846320"/>
            <a:ext cx="1790640" cy="2728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8"/>
          <p:cNvSpPr/>
          <p:nvPr/>
        </p:nvSpPr>
        <p:spPr>
          <a:xfrm>
            <a:off x="2935080" y="4846320"/>
            <a:ext cx="17906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Enseignant → Agent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9"/>
          <p:cNvSpPr/>
          <p:nvPr/>
        </p:nvSpPr>
        <p:spPr>
          <a:xfrm>
            <a:off x="4873680" y="3246120"/>
            <a:ext cx="1724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6400" tIns="45000" rIns="864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800" b="1" u="none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20"/>
          <p:cNvSpPr/>
          <p:nvPr/>
        </p:nvSpPr>
        <p:spPr>
          <a:xfrm>
            <a:off x="5047560" y="1965960"/>
            <a:ext cx="2064960" cy="3244680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 w="1260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21"/>
          <p:cNvSpPr/>
          <p:nvPr/>
        </p:nvSpPr>
        <p:spPr>
          <a:xfrm>
            <a:off x="5760720" y="2194560"/>
            <a:ext cx="638640" cy="638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22"/>
          <p:cNvSpPr/>
          <p:nvPr/>
        </p:nvSpPr>
        <p:spPr>
          <a:xfrm>
            <a:off x="5760720" y="2194560"/>
            <a:ext cx="6386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000" b="1" u="none" strike="noStrike">
                <a:solidFill>
                  <a:srgbClr val="C9A227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9" name="Image 2" descr="/home/claude/deck/icons/scan_1E2761.png"/>
          <p:cNvPicPr/>
          <p:nvPr/>
        </p:nvPicPr>
        <p:blipFill>
          <a:blip r:embed="rId3"/>
          <a:stretch/>
        </p:blipFill>
        <p:spPr>
          <a:xfrm>
            <a:off x="5879520" y="2971800"/>
            <a:ext cx="401040" cy="40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0" name="Text 23"/>
          <p:cNvSpPr/>
          <p:nvPr/>
        </p:nvSpPr>
        <p:spPr>
          <a:xfrm>
            <a:off x="5157360" y="3447360"/>
            <a:ext cx="184572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301"/>
              </a:lnSpc>
              <a:tabLst>
                <a:tab pos="0" algn="l"/>
              </a:tabLst>
            </a:pPr>
            <a:r>
              <a:rPr lang="fr-FR" sz="12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Numérisation &amp; vérification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4"/>
          <p:cNvSpPr/>
          <p:nvPr/>
        </p:nvSpPr>
        <p:spPr>
          <a:xfrm>
            <a:off x="5184720" y="4050720"/>
            <a:ext cx="179064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199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Numérisation par l'agent, puis vérification par l'enseignant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25"/>
          <p:cNvSpPr/>
          <p:nvPr/>
        </p:nvSpPr>
        <p:spPr>
          <a:xfrm>
            <a:off x="5184720" y="4846320"/>
            <a:ext cx="1790640" cy="2728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6"/>
          <p:cNvSpPr/>
          <p:nvPr/>
        </p:nvSpPr>
        <p:spPr>
          <a:xfrm>
            <a:off x="5184720" y="4846320"/>
            <a:ext cx="17906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Agent ⇄ Enseignant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27"/>
          <p:cNvSpPr/>
          <p:nvPr/>
        </p:nvSpPr>
        <p:spPr>
          <a:xfrm>
            <a:off x="7123320" y="3246120"/>
            <a:ext cx="1724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6400" tIns="45000" rIns="864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800" b="1" u="none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28"/>
          <p:cNvSpPr/>
          <p:nvPr/>
        </p:nvSpPr>
        <p:spPr>
          <a:xfrm>
            <a:off x="7296840" y="1965960"/>
            <a:ext cx="2064960" cy="3244680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 w="1260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29"/>
          <p:cNvSpPr/>
          <p:nvPr/>
        </p:nvSpPr>
        <p:spPr>
          <a:xfrm>
            <a:off x="8010000" y="2194560"/>
            <a:ext cx="638640" cy="638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30"/>
          <p:cNvSpPr/>
          <p:nvPr/>
        </p:nvSpPr>
        <p:spPr>
          <a:xfrm>
            <a:off x="8010000" y="2194560"/>
            <a:ext cx="6386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000" b="1" u="none" strike="noStrike">
                <a:solidFill>
                  <a:srgbClr val="C9A227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8" name="Image 3" descr="/home/claude/deck/icons/database_1E2761.png"/>
          <p:cNvPicPr/>
          <p:nvPr/>
        </p:nvPicPr>
        <p:blipFill>
          <a:blip r:embed="rId4"/>
          <a:stretch/>
        </p:blipFill>
        <p:spPr>
          <a:xfrm>
            <a:off x="8129160" y="2971800"/>
            <a:ext cx="401040" cy="40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Text 31"/>
          <p:cNvSpPr/>
          <p:nvPr/>
        </p:nvSpPr>
        <p:spPr>
          <a:xfrm>
            <a:off x="7406640" y="3447360"/>
            <a:ext cx="184572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301"/>
              </a:lnSpc>
              <a:tabLst>
                <a:tab pos="0" algn="l"/>
              </a:tabLst>
            </a:pPr>
            <a:r>
              <a:rPr lang="fr-FR" sz="12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Calcul &amp; bulletins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32"/>
          <p:cNvSpPr/>
          <p:nvPr/>
        </p:nvSpPr>
        <p:spPr>
          <a:xfrm>
            <a:off x="7434000" y="4050720"/>
            <a:ext cx="179064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199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Calcul automatique de la MGP et génération des bulletins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33"/>
          <p:cNvSpPr/>
          <p:nvPr/>
        </p:nvSpPr>
        <p:spPr>
          <a:xfrm>
            <a:off x="7434000" y="4846320"/>
            <a:ext cx="1790640" cy="2728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34"/>
          <p:cNvSpPr/>
          <p:nvPr/>
        </p:nvSpPr>
        <p:spPr>
          <a:xfrm>
            <a:off x="7434000" y="4846320"/>
            <a:ext cx="17906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Agent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35"/>
          <p:cNvSpPr/>
          <p:nvPr/>
        </p:nvSpPr>
        <p:spPr>
          <a:xfrm>
            <a:off x="9372600" y="3246120"/>
            <a:ext cx="1724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6400" tIns="45000" rIns="864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800" b="1" u="none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36"/>
          <p:cNvSpPr/>
          <p:nvPr/>
        </p:nvSpPr>
        <p:spPr>
          <a:xfrm>
            <a:off x="9546480" y="1965960"/>
            <a:ext cx="2064960" cy="3244680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 w="1260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37"/>
          <p:cNvSpPr/>
          <p:nvPr/>
        </p:nvSpPr>
        <p:spPr>
          <a:xfrm>
            <a:off x="10259640" y="2194560"/>
            <a:ext cx="638640" cy="638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38"/>
          <p:cNvSpPr/>
          <p:nvPr/>
        </p:nvSpPr>
        <p:spPr>
          <a:xfrm>
            <a:off x="10259640" y="2194560"/>
            <a:ext cx="6386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000" b="1" u="none" strike="noStrike">
                <a:solidFill>
                  <a:srgbClr val="C9A227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7" name="Image 4" descr="/home/claude/deck/icons/publish_1E2761.png"/>
          <p:cNvPicPr/>
          <p:nvPr/>
        </p:nvPicPr>
        <p:blipFill>
          <a:blip r:embed="rId5"/>
          <a:stretch/>
        </p:blipFill>
        <p:spPr>
          <a:xfrm>
            <a:off x="10378440" y="2971800"/>
            <a:ext cx="401040" cy="40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Text 39"/>
          <p:cNvSpPr/>
          <p:nvPr/>
        </p:nvSpPr>
        <p:spPr>
          <a:xfrm>
            <a:off x="9655920" y="3447360"/>
            <a:ext cx="184572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301"/>
              </a:lnSpc>
              <a:tabLst>
                <a:tab pos="0" algn="l"/>
              </a:tabLst>
            </a:pPr>
            <a:r>
              <a:rPr lang="fr-FR" sz="12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Publication &amp; consultation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40"/>
          <p:cNvSpPr/>
          <p:nvPr/>
        </p:nvSpPr>
        <p:spPr>
          <a:xfrm>
            <a:off x="9683640" y="4050720"/>
            <a:ext cx="179064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199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Publication des résultats, consultation par l'étudiant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41"/>
          <p:cNvSpPr/>
          <p:nvPr/>
        </p:nvSpPr>
        <p:spPr>
          <a:xfrm>
            <a:off x="9683640" y="4846320"/>
            <a:ext cx="1790640" cy="2728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42"/>
          <p:cNvSpPr/>
          <p:nvPr/>
        </p:nvSpPr>
        <p:spPr>
          <a:xfrm>
            <a:off x="9683640" y="4846320"/>
            <a:ext cx="17906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Agent → Étudiant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43"/>
          <p:cNvSpPr/>
          <p:nvPr/>
        </p:nvSpPr>
        <p:spPr>
          <a:xfrm>
            <a:off x="548640" y="5440680"/>
            <a:ext cx="11062800" cy="77580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44"/>
          <p:cNvSpPr/>
          <p:nvPr/>
        </p:nvSpPr>
        <p:spPr>
          <a:xfrm>
            <a:off x="777240" y="5605200"/>
            <a:ext cx="455760" cy="45576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4" name="Image 5" descr="/home/claude/deck/icons/alert_1E2761.png"/>
          <p:cNvPicPr/>
          <p:nvPr/>
        </p:nvPicPr>
        <p:blipFill>
          <a:blip r:embed="rId6"/>
          <a:stretch/>
        </p:blipFill>
        <p:spPr>
          <a:xfrm>
            <a:off x="831960" y="5660280"/>
            <a:ext cx="345960" cy="34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Text 45"/>
          <p:cNvSpPr/>
          <p:nvPr/>
        </p:nvSpPr>
        <p:spPr>
          <a:xfrm>
            <a:off x="1417320" y="5605200"/>
            <a:ext cx="99655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fr-FR" sz="1100" b="1" u="none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Scénario alternatif — absence de note :  </a:t>
            </a:r>
            <a:r>
              <a:rPr lang="fr-FR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 une note manque à la consultation, l'étudiant soumet une requête ; l'enseignant la traite et corrige la note, qui repart dans le circuit de numérisation.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46"/>
          <p:cNvSpPr/>
          <p:nvPr/>
        </p:nvSpPr>
        <p:spPr>
          <a:xfrm>
            <a:off x="11521440" y="649224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47"/>
          <p:cNvSpPr/>
          <p:nvPr/>
        </p:nvSpPr>
        <p:spPr>
          <a:xfrm>
            <a:off x="457200" y="6492240"/>
            <a:ext cx="4570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Gestion des Notes  d'une Université – Système LMD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 0"/>
          <p:cNvSpPr/>
          <p:nvPr/>
        </p:nvSpPr>
        <p:spPr>
          <a:xfrm>
            <a:off x="548640" y="384120"/>
            <a:ext cx="9142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pc="201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MÉTHODOLOGIE AGILE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"/>
          <p:cNvSpPr/>
          <p:nvPr/>
        </p:nvSpPr>
        <p:spPr>
          <a:xfrm>
            <a:off x="548640" y="658440"/>
            <a:ext cx="1078848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Répartition en 4 itérations (Sprints)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2"/>
          <p:cNvSpPr/>
          <p:nvPr/>
        </p:nvSpPr>
        <p:spPr>
          <a:xfrm>
            <a:off x="548640" y="1353240"/>
            <a:ext cx="1005840" cy="360"/>
          </a:xfrm>
          <a:prstGeom prst="line">
            <a:avLst/>
          </a:prstGeom>
          <a:ln w="31680">
            <a:solidFill>
              <a:srgbClr val="C9A2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Card 300"/>
          <p:cNvSpPr/>
          <p:nvPr/>
        </p:nvSpPr>
        <p:spPr>
          <a:xfrm>
            <a:off x="548640" y="1691640"/>
            <a:ext cx="2635560" cy="447912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60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2" name="Num 301"/>
          <p:cNvSpPr/>
          <p:nvPr/>
        </p:nvSpPr>
        <p:spPr>
          <a:xfrm>
            <a:off x="777240" y="1920240"/>
            <a:ext cx="410400" cy="4104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fr-FR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DejaVu Sans"/>
              </a:rPr>
              <a:t>1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302"/>
          <p:cNvSpPr/>
          <p:nvPr/>
        </p:nvSpPr>
        <p:spPr>
          <a:xfrm>
            <a:off x="1325880" y="1920240"/>
            <a:ext cx="16297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pc="150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SPRINT 1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303"/>
          <p:cNvSpPr/>
          <p:nvPr/>
        </p:nvSpPr>
        <p:spPr>
          <a:xfrm>
            <a:off x="777240" y="2468880"/>
            <a:ext cx="217836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650"/>
              </a:lnSpc>
              <a:tabLst>
                <a:tab pos="0" algn="l"/>
              </a:tabLst>
            </a:pPr>
            <a:r>
              <a:rPr lang="fr-FR" sz="15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Fondations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304"/>
          <p:cNvSpPr/>
          <p:nvPr/>
        </p:nvSpPr>
        <p:spPr>
          <a:xfrm>
            <a:off x="777240" y="2898720"/>
            <a:ext cx="21783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Semaines 1–2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305"/>
          <p:cNvSpPr/>
          <p:nvPr/>
        </p:nvSpPr>
        <p:spPr>
          <a:xfrm>
            <a:off x="777240" y="3158640"/>
            <a:ext cx="2179080" cy="360"/>
          </a:xfrm>
          <a:prstGeom prst="line">
            <a:avLst/>
          </a:prstGeom>
          <a:ln w="936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7" name="Text 306"/>
          <p:cNvSpPr/>
          <p:nvPr/>
        </p:nvSpPr>
        <p:spPr>
          <a:xfrm>
            <a:off x="777240" y="3296160"/>
            <a:ext cx="217836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fr-FR" sz="9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Authentification et structure académique opérationnelles.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307"/>
          <p:cNvSpPr/>
          <p:nvPr/>
        </p:nvSpPr>
        <p:spPr>
          <a:xfrm>
            <a:off x="777240" y="4046040"/>
            <a:ext cx="2179080" cy="360"/>
          </a:xfrm>
          <a:prstGeom prst="line">
            <a:avLst/>
          </a:prstGeom>
          <a:ln w="936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9" name="Text 308"/>
          <p:cNvSpPr/>
          <p:nvPr/>
        </p:nvSpPr>
        <p:spPr>
          <a:xfrm>
            <a:off x="777240" y="4137480"/>
            <a:ext cx="21783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1" u="none" spc="119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CAS D'UTILISATION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309"/>
          <p:cNvSpPr/>
          <p:nvPr/>
        </p:nvSpPr>
        <p:spPr>
          <a:xfrm>
            <a:off x="777240" y="4377600"/>
            <a:ext cx="217836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82880" indent="-182880" defTabSz="914400">
              <a:lnSpc>
                <a:spcPct val="115000"/>
              </a:lnSpc>
              <a:spcAft>
                <a:spcPts val="601"/>
              </a:spcAft>
              <a:buClr>
                <a:srgbClr val="2A2F45"/>
              </a:buClr>
              <a:buFont typeface="Arial"/>
              <a:buChar char="•"/>
            </a:pPr>
            <a:r>
              <a:rPr lang="fr-FR" sz="10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S'authentifier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15000"/>
              </a:lnSpc>
              <a:spcAft>
                <a:spcPts val="601"/>
              </a:spcAft>
              <a:buClr>
                <a:srgbClr val="2A2F45"/>
              </a:buClr>
              <a:buFont typeface="Arial"/>
              <a:buChar char="•"/>
            </a:pPr>
            <a:r>
              <a:rPr lang="fr-FR" sz="10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Gérer la structure académique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15000"/>
              </a:lnSpc>
              <a:spcAft>
                <a:spcPts val="601"/>
              </a:spcAft>
              <a:buClr>
                <a:srgbClr val="2A2F45"/>
              </a:buClr>
              <a:buFont typeface="Arial"/>
              <a:buChar char="•"/>
            </a:pPr>
            <a:r>
              <a:rPr lang="fr-FR" sz="10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Créer les matières par classe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15000"/>
              </a:lnSpc>
              <a:spcAft>
                <a:spcPts val="601"/>
              </a:spcAft>
              <a:buClr>
                <a:srgbClr val="2A2F45"/>
              </a:buClr>
              <a:buFont typeface="Arial"/>
              <a:buChar char="•"/>
            </a:pPr>
            <a:r>
              <a:rPr lang="fr-FR" sz="10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Valider inscriptions &amp; rôles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Card 310"/>
          <p:cNvSpPr/>
          <p:nvPr/>
        </p:nvSpPr>
        <p:spPr>
          <a:xfrm>
            <a:off x="3368160" y="1691640"/>
            <a:ext cx="2635560" cy="447912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60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2" name="Num 311"/>
          <p:cNvSpPr/>
          <p:nvPr/>
        </p:nvSpPr>
        <p:spPr>
          <a:xfrm>
            <a:off x="3596760" y="1920240"/>
            <a:ext cx="410400" cy="4104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fr-FR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DejaVu Sans"/>
              </a:rPr>
              <a:t>2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312"/>
          <p:cNvSpPr/>
          <p:nvPr/>
        </p:nvSpPr>
        <p:spPr>
          <a:xfrm>
            <a:off x="4145400" y="1920240"/>
            <a:ext cx="16297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pc="150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SPRINT 2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313"/>
          <p:cNvSpPr/>
          <p:nvPr/>
        </p:nvSpPr>
        <p:spPr>
          <a:xfrm>
            <a:off x="3596760" y="2468880"/>
            <a:ext cx="217836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650"/>
              </a:lnSpc>
              <a:tabLst>
                <a:tab pos="0" algn="l"/>
              </a:tabLst>
            </a:pPr>
            <a:r>
              <a:rPr lang="fr-FR" sz="15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Saisie &amp; sélection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314"/>
          <p:cNvSpPr/>
          <p:nvPr/>
        </p:nvSpPr>
        <p:spPr>
          <a:xfrm>
            <a:off x="3596760" y="2898720"/>
            <a:ext cx="21783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Semaines 3–4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315"/>
          <p:cNvSpPr/>
          <p:nvPr/>
        </p:nvSpPr>
        <p:spPr>
          <a:xfrm>
            <a:off x="3596400" y="3158640"/>
            <a:ext cx="2179440" cy="360"/>
          </a:xfrm>
          <a:prstGeom prst="line">
            <a:avLst/>
          </a:prstGeom>
          <a:ln w="936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7" name="Text 316"/>
          <p:cNvSpPr/>
          <p:nvPr/>
        </p:nvSpPr>
        <p:spPr>
          <a:xfrm>
            <a:off x="3596760" y="3296160"/>
            <a:ext cx="217836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fr-FR" sz="9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Enseignants et étudiants choisissent leurs matières et saisissent les notes.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317"/>
          <p:cNvSpPr/>
          <p:nvPr/>
        </p:nvSpPr>
        <p:spPr>
          <a:xfrm>
            <a:off x="3596400" y="4046040"/>
            <a:ext cx="2179440" cy="360"/>
          </a:xfrm>
          <a:prstGeom prst="line">
            <a:avLst/>
          </a:prstGeom>
          <a:ln w="936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9" name="Text 318"/>
          <p:cNvSpPr/>
          <p:nvPr/>
        </p:nvSpPr>
        <p:spPr>
          <a:xfrm>
            <a:off x="3596760" y="4137480"/>
            <a:ext cx="21783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1" u="none" spc="119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CAS D'UTILISATION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319"/>
          <p:cNvSpPr/>
          <p:nvPr/>
        </p:nvSpPr>
        <p:spPr>
          <a:xfrm>
            <a:off x="3596760" y="4377600"/>
            <a:ext cx="217836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82880" indent="-182880" defTabSz="914400">
              <a:lnSpc>
                <a:spcPct val="115000"/>
              </a:lnSpc>
              <a:spcAft>
                <a:spcPts val="601"/>
              </a:spcAft>
              <a:buClr>
                <a:srgbClr val="2A2F45"/>
              </a:buClr>
              <a:buFont typeface="Arial"/>
              <a:buChar char="•"/>
            </a:pPr>
            <a:r>
              <a:rPr lang="fr-FR" sz="10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Choisir ses matières / UE à reprendre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15000"/>
              </a:lnSpc>
              <a:spcAft>
                <a:spcPts val="601"/>
              </a:spcAft>
              <a:buClr>
                <a:srgbClr val="2A2F45"/>
              </a:buClr>
              <a:buFont typeface="Arial"/>
              <a:buChar char="•"/>
            </a:pPr>
            <a:r>
              <a:rPr lang="fr-FR" sz="10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Sélectionner matières enseignées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15000"/>
              </a:lnSpc>
              <a:spcAft>
                <a:spcPts val="601"/>
              </a:spcAft>
              <a:buClr>
                <a:srgbClr val="2A2F45"/>
              </a:buClr>
              <a:buFont typeface="Arial"/>
              <a:buChar char="•"/>
            </a:pPr>
            <a:r>
              <a:rPr lang="fr-FR" sz="10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Consulter liste des inscrits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15000"/>
              </a:lnSpc>
              <a:spcAft>
                <a:spcPts val="601"/>
              </a:spcAft>
              <a:buClr>
                <a:srgbClr val="2A2F45"/>
              </a:buClr>
              <a:buFont typeface="Arial"/>
              <a:buChar char="•"/>
            </a:pPr>
            <a:r>
              <a:rPr lang="fr-FR" sz="10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Saisir les notes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Card 320"/>
          <p:cNvSpPr/>
          <p:nvPr/>
        </p:nvSpPr>
        <p:spPr>
          <a:xfrm>
            <a:off x="6187320" y="1691640"/>
            <a:ext cx="2635560" cy="447912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60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2" name="Num 321"/>
          <p:cNvSpPr/>
          <p:nvPr/>
        </p:nvSpPr>
        <p:spPr>
          <a:xfrm>
            <a:off x="6415920" y="1920240"/>
            <a:ext cx="410400" cy="4104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fr-FR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DejaVu Sans"/>
              </a:rPr>
              <a:t>3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322"/>
          <p:cNvSpPr/>
          <p:nvPr/>
        </p:nvSpPr>
        <p:spPr>
          <a:xfrm>
            <a:off x="6964560" y="1920240"/>
            <a:ext cx="16297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pc="150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SPRINT 3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323"/>
          <p:cNvSpPr/>
          <p:nvPr/>
        </p:nvSpPr>
        <p:spPr>
          <a:xfrm>
            <a:off x="6415920" y="2468880"/>
            <a:ext cx="217836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650"/>
              </a:lnSpc>
              <a:tabLst>
                <a:tab pos="0" algn="l"/>
              </a:tabLst>
            </a:pPr>
            <a:r>
              <a:rPr lang="fr-FR" sz="15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Traitement &amp; publication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324"/>
          <p:cNvSpPr/>
          <p:nvPr/>
        </p:nvSpPr>
        <p:spPr>
          <a:xfrm>
            <a:off x="6415920" y="2898720"/>
            <a:ext cx="21783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Semaines 5–6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325"/>
          <p:cNvSpPr/>
          <p:nvPr/>
        </p:nvSpPr>
        <p:spPr>
          <a:xfrm>
            <a:off x="6415920" y="3158640"/>
            <a:ext cx="2179440" cy="360"/>
          </a:xfrm>
          <a:prstGeom prst="line">
            <a:avLst/>
          </a:prstGeom>
          <a:ln w="936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7" name="Text 326"/>
          <p:cNvSpPr/>
          <p:nvPr/>
        </p:nvSpPr>
        <p:spPr>
          <a:xfrm>
            <a:off x="6415920" y="3296160"/>
            <a:ext cx="217836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fr-FR" sz="9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Le circuit numérisation → vérification → calcul → publication fonctionne de bout en bout.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327"/>
          <p:cNvSpPr/>
          <p:nvPr/>
        </p:nvSpPr>
        <p:spPr>
          <a:xfrm>
            <a:off x="6415920" y="4046040"/>
            <a:ext cx="2179440" cy="360"/>
          </a:xfrm>
          <a:prstGeom prst="line">
            <a:avLst/>
          </a:prstGeom>
          <a:ln w="936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9" name="Text 328"/>
          <p:cNvSpPr/>
          <p:nvPr/>
        </p:nvSpPr>
        <p:spPr>
          <a:xfrm>
            <a:off x="6415920" y="4137480"/>
            <a:ext cx="21783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1" u="none" spc="119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CAS D'UTILISATION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329"/>
          <p:cNvSpPr/>
          <p:nvPr/>
        </p:nvSpPr>
        <p:spPr>
          <a:xfrm>
            <a:off x="6415920" y="4377600"/>
            <a:ext cx="217836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82880" indent="-182880" defTabSz="914400">
              <a:lnSpc>
                <a:spcPct val="115000"/>
              </a:lnSpc>
              <a:spcAft>
                <a:spcPts val="601"/>
              </a:spcAft>
              <a:buClr>
                <a:srgbClr val="2A2F45"/>
              </a:buClr>
              <a:buFont typeface="Arial"/>
              <a:buChar char="•"/>
            </a:pPr>
            <a:r>
              <a:rPr lang="fr-FR" sz="10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Numériser les notes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15000"/>
              </a:lnSpc>
              <a:spcAft>
                <a:spcPts val="601"/>
              </a:spcAft>
              <a:buClr>
                <a:srgbClr val="2A2F45"/>
              </a:buClr>
              <a:buFont typeface="Arial"/>
              <a:buChar char="•"/>
            </a:pPr>
            <a:r>
              <a:rPr lang="fr-FR" sz="10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Vérifier les notes numérisées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15000"/>
              </a:lnSpc>
              <a:spcAft>
                <a:spcPts val="601"/>
              </a:spcAft>
              <a:buClr>
                <a:srgbClr val="2A2F45"/>
              </a:buClr>
              <a:buFont typeface="Arial"/>
              <a:buChar char="•"/>
            </a:pPr>
            <a:r>
              <a:rPr lang="fr-FR" sz="10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Calculer la MGP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15000"/>
              </a:lnSpc>
              <a:spcAft>
                <a:spcPts val="601"/>
              </a:spcAft>
              <a:buClr>
                <a:srgbClr val="2A2F45"/>
              </a:buClr>
              <a:buFont typeface="Arial"/>
              <a:buChar char="•"/>
            </a:pPr>
            <a:r>
              <a:rPr lang="fr-FR" sz="10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Générer les bulletins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15000"/>
              </a:lnSpc>
              <a:spcAft>
                <a:spcPts val="601"/>
              </a:spcAft>
              <a:buClr>
                <a:srgbClr val="2A2F45"/>
              </a:buClr>
              <a:buFont typeface="Arial"/>
              <a:buChar char="•"/>
            </a:pPr>
            <a:r>
              <a:rPr lang="fr-FR" sz="10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Publier les résultats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Card 330"/>
          <p:cNvSpPr/>
          <p:nvPr/>
        </p:nvSpPr>
        <p:spPr>
          <a:xfrm>
            <a:off x="9006840" y="1691640"/>
            <a:ext cx="2635560" cy="447912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60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2" name="Num 331"/>
          <p:cNvSpPr/>
          <p:nvPr/>
        </p:nvSpPr>
        <p:spPr>
          <a:xfrm>
            <a:off x="9235440" y="1920240"/>
            <a:ext cx="410400" cy="4104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fr-FR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DejaVu Sans"/>
              </a:rPr>
              <a:t>4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332"/>
          <p:cNvSpPr/>
          <p:nvPr/>
        </p:nvSpPr>
        <p:spPr>
          <a:xfrm>
            <a:off x="9784080" y="1920240"/>
            <a:ext cx="16297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pc="150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SPRINT 4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333"/>
          <p:cNvSpPr/>
          <p:nvPr/>
        </p:nvSpPr>
        <p:spPr>
          <a:xfrm>
            <a:off x="9235440" y="2468880"/>
            <a:ext cx="217836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650"/>
              </a:lnSpc>
              <a:tabLst>
                <a:tab pos="0" algn="l"/>
              </a:tabLst>
            </a:pPr>
            <a:r>
              <a:rPr lang="fr-FR" sz="15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Consultation &amp; réclamations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334"/>
          <p:cNvSpPr/>
          <p:nvPr/>
        </p:nvSpPr>
        <p:spPr>
          <a:xfrm>
            <a:off x="9235440" y="2898720"/>
            <a:ext cx="21783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Semaines 7–8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335"/>
          <p:cNvSpPr/>
          <p:nvPr/>
        </p:nvSpPr>
        <p:spPr>
          <a:xfrm>
            <a:off x="9235440" y="3158640"/>
            <a:ext cx="2179080" cy="360"/>
          </a:xfrm>
          <a:prstGeom prst="line">
            <a:avLst/>
          </a:prstGeom>
          <a:ln w="936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7" name="Text 336"/>
          <p:cNvSpPr/>
          <p:nvPr/>
        </p:nvSpPr>
        <p:spPr>
          <a:xfrm>
            <a:off x="9235440" y="3296160"/>
            <a:ext cx="217836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fr-FR" sz="9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L'étudiant consulte ses résultats et peut réclamer — boucle complète du système.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337"/>
          <p:cNvSpPr/>
          <p:nvPr/>
        </p:nvSpPr>
        <p:spPr>
          <a:xfrm>
            <a:off x="9235440" y="4046040"/>
            <a:ext cx="2179080" cy="360"/>
          </a:xfrm>
          <a:prstGeom prst="line">
            <a:avLst/>
          </a:prstGeom>
          <a:ln w="936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9" name="Text 338"/>
          <p:cNvSpPr/>
          <p:nvPr/>
        </p:nvSpPr>
        <p:spPr>
          <a:xfrm>
            <a:off x="9235440" y="4137480"/>
            <a:ext cx="21783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1" u="none" spc="119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CAS D'UTILISATION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339"/>
          <p:cNvSpPr/>
          <p:nvPr/>
        </p:nvSpPr>
        <p:spPr>
          <a:xfrm>
            <a:off x="9235440" y="4377600"/>
            <a:ext cx="217836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82880" indent="-182880" defTabSz="914400">
              <a:lnSpc>
                <a:spcPct val="115000"/>
              </a:lnSpc>
              <a:spcAft>
                <a:spcPts val="601"/>
              </a:spcAft>
              <a:buClr>
                <a:srgbClr val="2A2F45"/>
              </a:buClr>
              <a:buFont typeface="Arial"/>
              <a:buChar char="•"/>
            </a:pPr>
            <a:r>
              <a:rPr lang="fr-FR" sz="10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Consulter ses notes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15000"/>
              </a:lnSpc>
              <a:spcAft>
                <a:spcPts val="601"/>
              </a:spcAft>
              <a:buClr>
                <a:srgbClr val="2A2F45"/>
              </a:buClr>
              <a:buFont typeface="Arial"/>
              <a:buChar char="•"/>
            </a:pPr>
            <a:r>
              <a:rPr lang="fr-FR" sz="10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Consulter son bulletin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15000"/>
              </a:lnSpc>
              <a:spcAft>
                <a:spcPts val="601"/>
              </a:spcAft>
              <a:buClr>
                <a:srgbClr val="2A2F45"/>
              </a:buClr>
              <a:buFont typeface="Arial"/>
              <a:buChar char="•"/>
            </a:pPr>
            <a:r>
              <a:rPr lang="fr-FR" sz="10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Soumettre une requête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15000"/>
              </a:lnSpc>
              <a:spcAft>
                <a:spcPts val="601"/>
              </a:spcAft>
              <a:buClr>
                <a:srgbClr val="2A2F45"/>
              </a:buClr>
              <a:buFont typeface="Arial"/>
              <a:buChar char="•"/>
            </a:pPr>
            <a:r>
              <a:rPr lang="fr-FR" sz="10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Calibri"/>
              </a:rPr>
              <a:t>Traiter une requête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29"/>
          <p:cNvSpPr/>
          <p:nvPr/>
        </p:nvSpPr>
        <p:spPr>
          <a:xfrm>
            <a:off x="11521440" y="649224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30"/>
          <p:cNvSpPr/>
          <p:nvPr/>
        </p:nvSpPr>
        <p:spPr>
          <a:xfrm>
            <a:off x="457200" y="6492240"/>
            <a:ext cx="4570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Gestion des Notes  d'une Université – Système LMD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Text 0"/>
          <p:cNvSpPr/>
          <p:nvPr/>
        </p:nvSpPr>
        <p:spPr>
          <a:xfrm>
            <a:off x="548640" y="384120"/>
            <a:ext cx="9142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pc="201" strike="noStrike">
                <a:solidFill>
                  <a:srgbClr val="C9A227"/>
                </a:solidFill>
                <a:effectLst/>
                <a:uFillTx/>
                <a:latin typeface="Calibri"/>
                <a:ea typeface="Calibri"/>
              </a:rPr>
              <a:t>CONCEPTION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1"/>
          <p:cNvSpPr/>
          <p:nvPr/>
        </p:nvSpPr>
        <p:spPr>
          <a:xfrm>
            <a:off x="548640" y="658440"/>
            <a:ext cx="1078848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Vers le modèle de données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2"/>
          <p:cNvSpPr/>
          <p:nvPr/>
        </p:nvSpPr>
        <p:spPr>
          <a:xfrm>
            <a:off x="548640" y="1353240"/>
            <a:ext cx="1005840" cy="360"/>
          </a:xfrm>
          <a:prstGeom prst="line">
            <a:avLst/>
          </a:prstGeom>
          <a:ln w="31680">
            <a:solidFill>
              <a:srgbClr val="C9A2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3"/>
          <p:cNvSpPr/>
          <p:nvPr/>
        </p:nvSpPr>
        <p:spPr>
          <a:xfrm>
            <a:off x="548640" y="1417320"/>
            <a:ext cx="10971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Entités identifiées dans le recueil des besoins, prêtes pour la construction du MCD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4"/>
          <p:cNvSpPr/>
          <p:nvPr/>
        </p:nvSpPr>
        <p:spPr>
          <a:xfrm>
            <a:off x="548640" y="1965960"/>
            <a:ext cx="2650320" cy="4341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60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5"/>
          <p:cNvSpPr/>
          <p:nvPr/>
        </p:nvSpPr>
        <p:spPr>
          <a:xfrm>
            <a:off x="1600200" y="2194560"/>
            <a:ext cx="547200" cy="5472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9" name="Image 0" descr="/home/claude/deck/icons/landmark_FFFFFF.png"/>
          <p:cNvPicPr/>
          <p:nvPr/>
        </p:nvPicPr>
        <p:blipFill>
          <a:blip r:embed="rId1"/>
          <a:stretch/>
        </p:blipFill>
        <p:spPr>
          <a:xfrm>
            <a:off x="1666080" y="2260440"/>
            <a:ext cx="415440" cy="41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0" name="Text 6"/>
          <p:cNvSpPr/>
          <p:nvPr/>
        </p:nvSpPr>
        <p:spPr>
          <a:xfrm>
            <a:off x="658440" y="2880360"/>
            <a:ext cx="24307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fr-FR" sz="125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Structure académique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7"/>
          <p:cNvSpPr/>
          <p:nvPr/>
        </p:nvSpPr>
        <p:spPr>
          <a:xfrm>
            <a:off x="731520" y="3474720"/>
            <a:ext cx="2284560" cy="36432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8"/>
          <p:cNvSpPr/>
          <p:nvPr/>
        </p:nvSpPr>
        <p:spPr>
          <a:xfrm>
            <a:off x="731520" y="3474720"/>
            <a:ext cx="2284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Université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9"/>
          <p:cNvSpPr/>
          <p:nvPr/>
        </p:nvSpPr>
        <p:spPr>
          <a:xfrm>
            <a:off x="731520" y="3918240"/>
            <a:ext cx="2284560" cy="36432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0"/>
          <p:cNvSpPr/>
          <p:nvPr/>
        </p:nvSpPr>
        <p:spPr>
          <a:xfrm>
            <a:off x="731520" y="3918240"/>
            <a:ext cx="2284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Faculté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1"/>
          <p:cNvSpPr/>
          <p:nvPr/>
        </p:nvSpPr>
        <p:spPr>
          <a:xfrm>
            <a:off x="731520" y="4361760"/>
            <a:ext cx="2284560" cy="36432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2"/>
          <p:cNvSpPr/>
          <p:nvPr/>
        </p:nvSpPr>
        <p:spPr>
          <a:xfrm>
            <a:off x="731520" y="4361760"/>
            <a:ext cx="2284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Département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13"/>
          <p:cNvSpPr/>
          <p:nvPr/>
        </p:nvSpPr>
        <p:spPr>
          <a:xfrm>
            <a:off x="731520" y="4805280"/>
            <a:ext cx="2284560" cy="36432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4"/>
          <p:cNvSpPr/>
          <p:nvPr/>
        </p:nvSpPr>
        <p:spPr>
          <a:xfrm>
            <a:off x="731520" y="4805280"/>
            <a:ext cx="2284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Filière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5"/>
          <p:cNvSpPr/>
          <p:nvPr/>
        </p:nvSpPr>
        <p:spPr>
          <a:xfrm>
            <a:off x="731520" y="5248800"/>
            <a:ext cx="2284560" cy="36432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6"/>
          <p:cNvSpPr/>
          <p:nvPr/>
        </p:nvSpPr>
        <p:spPr>
          <a:xfrm>
            <a:off x="731520" y="5248800"/>
            <a:ext cx="2284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Niveau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17"/>
          <p:cNvSpPr/>
          <p:nvPr/>
        </p:nvSpPr>
        <p:spPr>
          <a:xfrm>
            <a:off x="731520" y="5692320"/>
            <a:ext cx="2284560" cy="36432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8"/>
          <p:cNvSpPr/>
          <p:nvPr/>
        </p:nvSpPr>
        <p:spPr>
          <a:xfrm>
            <a:off x="731520" y="5692320"/>
            <a:ext cx="2284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Classe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19"/>
          <p:cNvSpPr/>
          <p:nvPr/>
        </p:nvSpPr>
        <p:spPr>
          <a:xfrm>
            <a:off x="3337560" y="1965960"/>
            <a:ext cx="2650320" cy="4341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60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20"/>
          <p:cNvSpPr/>
          <p:nvPr/>
        </p:nvSpPr>
        <p:spPr>
          <a:xfrm>
            <a:off x="4389120" y="2194560"/>
            <a:ext cx="547200" cy="5472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5" name="Image 1" descr="/home/claude/deck/icons/book_FFFFFF.png"/>
          <p:cNvPicPr/>
          <p:nvPr/>
        </p:nvPicPr>
        <p:blipFill>
          <a:blip r:embed="rId2"/>
          <a:stretch/>
        </p:blipFill>
        <p:spPr>
          <a:xfrm>
            <a:off x="4455000" y="2260440"/>
            <a:ext cx="415440" cy="41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6" name="Text 21"/>
          <p:cNvSpPr/>
          <p:nvPr/>
        </p:nvSpPr>
        <p:spPr>
          <a:xfrm>
            <a:off x="3447360" y="2880360"/>
            <a:ext cx="24307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fr-FR" sz="125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Pédagogie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22"/>
          <p:cNvSpPr/>
          <p:nvPr/>
        </p:nvSpPr>
        <p:spPr>
          <a:xfrm>
            <a:off x="3520440" y="3474720"/>
            <a:ext cx="2284560" cy="36432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23"/>
          <p:cNvSpPr/>
          <p:nvPr/>
        </p:nvSpPr>
        <p:spPr>
          <a:xfrm>
            <a:off x="3520440" y="3474720"/>
            <a:ext cx="2284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UE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24"/>
          <p:cNvSpPr/>
          <p:nvPr/>
        </p:nvSpPr>
        <p:spPr>
          <a:xfrm>
            <a:off x="3520440" y="3918240"/>
            <a:ext cx="2284560" cy="36432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25"/>
          <p:cNvSpPr/>
          <p:nvPr/>
        </p:nvSpPr>
        <p:spPr>
          <a:xfrm>
            <a:off x="3520440" y="3918240"/>
            <a:ext cx="2284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Matière (EC)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26"/>
          <p:cNvSpPr/>
          <p:nvPr/>
        </p:nvSpPr>
        <p:spPr>
          <a:xfrm>
            <a:off x="6126480" y="1965960"/>
            <a:ext cx="2650320" cy="4341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60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27"/>
          <p:cNvSpPr/>
          <p:nvPr/>
        </p:nvSpPr>
        <p:spPr>
          <a:xfrm>
            <a:off x="7178040" y="2194560"/>
            <a:ext cx="547200" cy="5472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3" name="Image 2" descr="/home/claude/deck/icons/users_FFFFFF.png"/>
          <p:cNvPicPr/>
          <p:nvPr/>
        </p:nvPicPr>
        <p:blipFill>
          <a:blip r:embed="rId3"/>
          <a:stretch/>
        </p:blipFill>
        <p:spPr>
          <a:xfrm>
            <a:off x="7243920" y="2260440"/>
            <a:ext cx="415440" cy="41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4" name="Text 28"/>
          <p:cNvSpPr/>
          <p:nvPr/>
        </p:nvSpPr>
        <p:spPr>
          <a:xfrm>
            <a:off x="6236280" y="2880360"/>
            <a:ext cx="24307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fr-FR" sz="125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Acteurs identifiés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29"/>
          <p:cNvSpPr/>
          <p:nvPr/>
        </p:nvSpPr>
        <p:spPr>
          <a:xfrm>
            <a:off x="6309360" y="3474720"/>
            <a:ext cx="2284560" cy="36432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30"/>
          <p:cNvSpPr/>
          <p:nvPr/>
        </p:nvSpPr>
        <p:spPr>
          <a:xfrm>
            <a:off x="6309360" y="3474720"/>
            <a:ext cx="2284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Enseignant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31"/>
          <p:cNvSpPr/>
          <p:nvPr/>
        </p:nvSpPr>
        <p:spPr>
          <a:xfrm>
            <a:off x="6309360" y="3918240"/>
            <a:ext cx="2284560" cy="36432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32"/>
          <p:cNvSpPr/>
          <p:nvPr/>
        </p:nvSpPr>
        <p:spPr>
          <a:xfrm>
            <a:off x="6309360" y="3918240"/>
            <a:ext cx="2284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Étudiant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33"/>
          <p:cNvSpPr/>
          <p:nvPr/>
        </p:nvSpPr>
        <p:spPr>
          <a:xfrm>
            <a:off x="6309360" y="4361760"/>
            <a:ext cx="2284560" cy="36432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34"/>
          <p:cNvSpPr/>
          <p:nvPr/>
        </p:nvSpPr>
        <p:spPr>
          <a:xfrm>
            <a:off x="6309360" y="4361760"/>
            <a:ext cx="2284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Agent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35"/>
          <p:cNvSpPr/>
          <p:nvPr/>
        </p:nvSpPr>
        <p:spPr>
          <a:xfrm>
            <a:off x="8915400" y="1965960"/>
            <a:ext cx="2650320" cy="4341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600">
            <a:solidFill>
              <a:srgbClr val="E1E6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36"/>
          <p:cNvSpPr/>
          <p:nvPr/>
        </p:nvSpPr>
        <p:spPr>
          <a:xfrm>
            <a:off x="9966960" y="2194560"/>
            <a:ext cx="547200" cy="5472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3" name="Image 3" descr="/home/claude/deck/icons/database_FFFFFF.png"/>
          <p:cNvPicPr/>
          <p:nvPr/>
        </p:nvPicPr>
        <p:blipFill>
          <a:blip r:embed="rId4"/>
          <a:stretch/>
        </p:blipFill>
        <p:spPr>
          <a:xfrm>
            <a:off x="10032840" y="2260440"/>
            <a:ext cx="415440" cy="41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4" name="Text 37"/>
          <p:cNvSpPr/>
          <p:nvPr/>
        </p:nvSpPr>
        <p:spPr>
          <a:xfrm>
            <a:off x="9025200" y="2880360"/>
            <a:ext cx="24307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fr-FR" sz="125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Évaluation &amp; suivi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38"/>
          <p:cNvSpPr/>
          <p:nvPr/>
        </p:nvSpPr>
        <p:spPr>
          <a:xfrm>
            <a:off x="9098280" y="3474720"/>
            <a:ext cx="2284560" cy="36432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39"/>
          <p:cNvSpPr/>
          <p:nvPr/>
        </p:nvSpPr>
        <p:spPr>
          <a:xfrm>
            <a:off x="9098280" y="3474720"/>
            <a:ext cx="2284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Inscription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40"/>
          <p:cNvSpPr/>
          <p:nvPr/>
        </p:nvSpPr>
        <p:spPr>
          <a:xfrm>
            <a:off x="9098280" y="3918240"/>
            <a:ext cx="2284560" cy="36432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41"/>
          <p:cNvSpPr/>
          <p:nvPr/>
        </p:nvSpPr>
        <p:spPr>
          <a:xfrm>
            <a:off x="9098280" y="3918240"/>
            <a:ext cx="2284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Note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42"/>
          <p:cNvSpPr/>
          <p:nvPr/>
        </p:nvSpPr>
        <p:spPr>
          <a:xfrm>
            <a:off x="9098280" y="4361760"/>
            <a:ext cx="2284560" cy="36432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43"/>
          <p:cNvSpPr/>
          <p:nvPr/>
        </p:nvSpPr>
        <p:spPr>
          <a:xfrm>
            <a:off x="9098280" y="4361760"/>
            <a:ext cx="2284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Requête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44"/>
          <p:cNvSpPr/>
          <p:nvPr/>
        </p:nvSpPr>
        <p:spPr>
          <a:xfrm>
            <a:off x="9098280" y="4805280"/>
            <a:ext cx="2284560" cy="36432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45"/>
          <p:cNvSpPr/>
          <p:nvPr/>
        </p:nvSpPr>
        <p:spPr>
          <a:xfrm>
            <a:off x="9098280" y="4805280"/>
            <a:ext cx="2284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Bulletin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46"/>
          <p:cNvSpPr/>
          <p:nvPr/>
        </p:nvSpPr>
        <p:spPr>
          <a:xfrm>
            <a:off x="11521440" y="649224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47"/>
          <p:cNvSpPr/>
          <p:nvPr/>
        </p:nvSpPr>
        <p:spPr>
          <a:xfrm>
            <a:off x="457200" y="6492240"/>
            <a:ext cx="4570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Gestion des Notes  d'une Université – Système LMD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TextBox 1"/>
          <p:cNvSpPr/>
          <p:nvPr/>
        </p:nvSpPr>
        <p:spPr>
          <a:xfrm>
            <a:off x="548640" y="384120"/>
            <a:ext cx="91432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fr-FR" sz="1200" b="1" u="none" strike="noStrike">
                <a:solidFill>
                  <a:srgbClr val="C9A227"/>
                </a:solidFill>
                <a:effectLst/>
                <a:uFillTx/>
                <a:latin typeface="Calibri"/>
                <a:ea typeface="DejaVu Sans"/>
              </a:rPr>
              <a:t>SUITE DU PROJET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2"/>
          <p:cNvSpPr/>
          <p:nvPr/>
        </p:nvSpPr>
        <p:spPr>
          <a:xfrm>
            <a:off x="548640" y="658440"/>
            <a:ext cx="107892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fr-FR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DejaVu Sans"/>
              </a:rPr>
              <a:t>Points de vigilance avant le MCD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Rectangle 3"/>
          <p:cNvSpPr/>
          <p:nvPr/>
        </p:nvSpPr>
        <p:spPr>
          <a:xfrm>
            <a:off x="548640" y="1353240"/>
            <a:ext cx="1005120" cy="26640"/>
          </a:xfrm>
          <a:prstGeom prst="rect">
            <a:avLst/>
          </a:prstGeom>
          <a:solidFill>
            <a:srgbClr val="C9A227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ctr">
            <a:noAutofit/>
          </a:bodyPr>
          <a:p>
            <a:endParaRPr lang="fr-F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" name="TextBox 4"/>
          <p:cNvSpPr/>
          <p:nvPr/>
        </p:nvSpPr>
        <p:spPr>
          <a:xfrm>
            <a:off x="548640" y="1444680"/>
            <a:ext cx="1097208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fr-FR" sz="12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DejaVu Sans"/>
              </a:rPr>
              <a:t>État des lieux des clarifications nécessaires avant la conception du modèle conceptuel de données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Rounded Rectangle 5"/>
          <p:cNvSpPr/>
          <p:nvPr/>
        </p:nvSpPr>
        <p:spPr>
          <a:xfrm>
            <a:off x="548640" y="1965960"/>
            <a:ext cx="5439960" cy="233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600">
            <a:solidFill>
              <a:srgbClr val="E1E6F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0" name="Rounded Rectangle 6"/>
          <p:cNvSpPr/>
          <p:nvPr/>
        </p:nvSpPr>
        <p:spPr>
          <a:xfrm>
            <a:off x="822960" y="2221920"/>
            <a:ext cx="1416600" cy="328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1" name="TextBox 7"/>
          <p:cNvSpPr/>
          <p:nvPr/>
        </p:nvSpPr>
        <p:spPr>
          <a:xfrm>
            <a:off x="822960" y="2306160"/>
            <a:ext cx="14166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>
              <a:lnSpc>
                <a:spcPct val="100000"/>
              </a:lnSpc>
            </a:pPr>
            <a:r>
              <a:rPr lang="fr-FR" sz="10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DejaVu Sans"/>
              </a:rPr>
              <a:t>RÉSOLU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Oval 8"/>
          <p:cNvSpPr/>
          <p:nvPr/>
        </p:nvSpPr>
        <p:spPr>
          <a:xfrm>
            <a:off x="5212080" y="2194560"/>
            <a:ext cx="456480" cy="456480"/>
          </a:xfrm>
          <a:prstGeom prst="ellipse">
            <a:avLst/>
          </a:prstGeom>
          <a:solidFill>
            <a:srgbClr val="CADCFC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23" name="Picture 9" descr="image.png"/>
          <p:cNvPicPr/>
          <p:nvPr/>
        </p:nvPicPr>
        <p:blipFill>
          <a:blip r:embed="rId1"/>
          <a:stretch/>
        </p:blipFill>
        <p:spPr>
          <a:xfrm>
            <a:off x="5271480" y="225396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4" name="TextBox 10"/>
          <p:cNvSpPr/>
          <p:nvPr/>
        </p:nvSpPr>
        <p:spPr>
          <a:xfrm>
            <a:off x="822960" y="2697480"/>
            <a:ext cx="48913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fr-FR" sz="15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DejaVu Sans"/>
              </a:rPr>
              <a:t>Agent = Administrateur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Box 11"/>
          <p:cNvSpPr/>
          <p:nvPr/>
        </p:nvSpPr>
        <p:spPr>
          <a:xfrm>
            <a:off x="822960" y="3108960"/>
            <a:ext cx="489132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15000"/>
              </a:lnSpc>
            </a:pPr>
            <a:r>
              <a:rPr lang="fr-FR" sz="11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DejaVu Sans"/>
              </a:rPr>
              <a:t>L'administrateur de l'application est la cellule informatique, qui agit à travers ses agents. « Agent de la cellule informatique » (diagrammes) et « Administrateur » (cahier des charges) désignent le même rôle.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Rounded Rectangle 12"/>
          <p:cNvSpPr/>
          <p:nvPr/>
        </p:nvSpPr>
        <p:spPr>
          <a:xfrm>
            <a:off x="6172200" y="1965960"/>
            <a:ext cx="5439960" cy="233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600">
            <a:solidFill>
              <a:srgbClr val="E1E6F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7" name="Rounded Rectangle 13"/>
          <p:cNvSpPr/>
          <p:nvPr/>
        </p:nvSpPr>
        <p:spPr>
          <a:xfrm>
            <a:off x="6446520" y="2221920"/>
            <a:ext cx="1599480" cy="328320"/>
          </a:xfrm>
          <a:prstGeom prst="roundRect">
            <a:avLst>
              <a:gd name="adj" fmla="val 50000"/>
            </a:avLst>
          </a:prstGeom>
          <a:solidFill>
            <a:srgbClr val="F2E4B8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8" name="TextBox 14"/>
          <p:cNvSpPr/>
          <p:nvPr/>
        </p:nvSpPr>
        <p:spPr>
          <a:xfrm>
            <a:off x="6446520" y="2306160"/>
            <a:ext cx="15994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>
              <a:lnSpc>
                <a:spcPct val="100000"/>
              </a:lnSpc>
            </a:pPr>
            <a:r>
              <a:rPr lang="fr-FR" sz="10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DejaVu Sans"/>
              </a:rPr>
              <a:t>À VALIDER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Oval 15"/>
          <p:cNvSpPr/>
          <p:nvPr/>
        </p:nvSpPr>
        <p:spPr>
          <a:xfrm>
            <a:off x="10835640" y="2194560"/>
            <a:ext cx="456480" cy="456480"/>
          </a:xfrm>
          <a:prstGeom prst="ellipse">
            <a:avLst/>
          </a:prstGeom>
          <a:solidFill>
            <a:srgbClr val="F2E4B8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30" name="Picture 16" descr="image.png"/>
          <p:cNvPicPr/>
          <p:nvPr/>
        </p:nvPicPr>
        <p:blipFill>
          <a:blip r:embed="rId2"/>
          <a:stretch/>
        </p:blipFill>
        <p:spPr>
          <a:xfrm>
            <a:off x="10895040" y="225396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1" name="TextBox 17"/>
          <p:cNvSpPr/>
          <p:nvPr/>
        </p:nvSpPr>
        <p:spPr>
          <a:xfrm>
            <a:off x="6446520" y="2697480"/>
            <a:ext cx="48913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fr-FR" sz="15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DejaVu Sans"/>
              </a:rPr>
              <a:t>La notion de « salle »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Box 18"/>
          <p:cNvSpPr/>
          <p:nvPr/>
        </p:nvSpPr>
        <p:spPr>
          <a:xfrm>
            <a:off x="6446520" y="3108960"/>
            <a:ext cx="489132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15000"/>
              </a:lnSpc>
            </a:pPr>
            <a:r>
              <a:rPr lang="fr-FR" sz="1100" b="0" u="none" strike="noStrike">
                <a:solidFill>
                  <a:srgbClr val="2A2F45"/>
                </a:solidFill>
                <a:effectLst/>
                <a:uFillTx/>
                <a:latin typeface="Calibri"/>
                <a:ea typeface="DejaVu Sans"/>
              </a:rPr>
              <a:t>Synonyme de classe, lieu physique d'enseignement, ou groupe de TD/TP ? Introduite par les diagrammes de cas d'utilisation, absente du dictionnaire de données actuel.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Rounded Rectangle 19"/>
          <p:cNvSpPr/>
          <p:nvPr/>
        </p:nvSpPr>
        <p:spPr>
          <a:xfrm>
            <a:off x="548640" y="4617720"/>
            <a:ext cx="11063520" cy="12337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4" name="Oval 20"/>
          <p:cNvSpPr/>
          <p:nvPr/>
        </p:nvSpPr>
        <p:spPr>
          <a:xfrm>
            <a:off x="868680" y="4873680"/>
            <a:ext cx="547920" cy="547920"/>
          </a:xfrm>
          <a:prstGeom prst="ellipse">
            <a:avLst/>
          </a:prstGeom>
          <a:solidFill>
            <a:srgbClr val="C9A227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35" name="Picture 21" descr="image.png"/>
          <p:cNvPicPr/>
          <p:nvPr/>
        </p:nvPicPr>
        <p:blipFill>
          <a:blip r:embed="rId3"/>
          <a:stretch/>
        </p:blipFill>
        <p:spPr>
          <a:xfrm>
            <a:off x="939960" y="4944960"/>
            <a:ext cx="405360" cy="40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6" name="TextBox 22"/>
          <p:cNvSpPr/>
          <p:nvPr/>
        </p:nvSpPr>
        <p:spPr>
          <a:xfrm>
            <a:off x="1691640" y="4818960"/>
            <a:ext cx="960048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fr-FR" sz="1250" b="1" u="none" strike="noStrike">
                <a:solidFill>
                  <a:srgbClr val="C9A227"/>
                </a:solidFill>
                <a:effectLst/>
                <a:uFillTx/>
                <a:latin typeface="Calibri"/>
                <a:ea typeface="DejaVu Sans"/>
              </a:rPr>
              <a:t>Prochaine étape immédiate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Box 23"/>
          <p:cNvSpPr/>
          <p:nvPr/>
        </p:nvSpPr>
        <p:spPr>
          <a:xfrm>
            <a:off x="1691640" y="5148000"/>
            <a:ext cx="9600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20000"/>
              </a:lnSpc>
            </a:pPr>
            <a:r>
              <a:rPr lang="fr-FR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Confirmer la notion de « salle » avec le service de la scolarité </a:t>
            </a:r>
            <a:r>
              <a:rPr lang="fr-FR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DejaVu Sans"/>
              </a:rPr>
              <a:t>avant le lancement du Sprint 1 (Fondations) — le résultat conditionne directement les attributs du modèle conceptuel de données.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Box 24"/>
          <p:cNvSpPr/>
          <p:nvPr/>
        </p:nvSpPr>
        <p:spPr>
          <a:xfrm>
            <a:off x="11521440" y="6492240"/>
            <a:ext cx="456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fr-FR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DejaVu Sans"/>
              </a:rPr>
              <a:t>13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25"/>
          <p:cNvSpPr/>
          <p:nvPr/>
        </p:nvSpPr>
        <p:spPr>
          <a:xfrm>
            <a:off x="457200" y="6492240"/>
            <a:ext cx="54856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fr-FR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DejaVu Sans"/>
              </a:rPr>
              <a:t>Gestion des Notes  d'une Université – Système LMD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Shape 0"/>
          <p:cNvSpPr/>
          <p:nvPr/>
        </p:nvSpPr>
        <p:spPr>
          <a:xfrm>
            <a:off x="-2286000" y="-2286000"/>
            <a:ext cx="5484960" cy="5484960"/>
          </a:xfrm>
          <a:prstGeom prst="ellipse">
            <a:avLst/>
          </a:prstGeom>
          <a:solidFill>
            <a:srgbClr val="141B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1"/>
          <p:cNvSpPr/>
          <p:nvPr/>
        </p:nvSpPr>
        <p:spPr>
          <a:xfrm>
            <a:off x="9601200" y="3657600"/>
            <a:ext cx="5027760" cy="5027760"/>
          </a:xfrm>
          <a:prstGeom prst="ellipse">
            <a:avLst/>
          </a:prstGeom>
          <a:solidFill>
            <a:srgbClr val="141B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2"/>
          <p:cNvSpPr/>
          <p:nvPr/>
        </p:nvSpPr>
        <p:spPr>
          <a:xfrm>
            <a:off x="5641920" y="1371600"/>
            <a:ext cx="912960" cy="91296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3" name="Image 0" descr="/home/claude/deck/icons/gradcap_1E2761.png"/>
          <p:cNvPicPr/>
          <p:nvPr/>
        </p:nvPicPr>
        <p:blipFill>
          <a:blip r:embed="rId1"/>
          <a:stretch/>
        </p:blipFill>
        <p:spPr>
          <a:xfrm>
            <a:off x="5751720" y="1481400"/>
            <a:ext cx="693360" cy="69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4" name="Text 3"/>
          <p:cNvSpPr/>
          <p:nvPr/>
        </p:nvSpPr>
        <p:spPr>
          <a:xfrm>
            <a:off x="548640" y="2514600"/>
            <a:ext cx="1106280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Merci de votre attention</a:t>
            </a:r>
            <a:endParaRPr lang="fr-F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4"/>
          <p:cNvSpPr/>
          <p:nvPr/>
        </p:nvSpPr>
        <p:spPr>
          <a:xfrm>
            <a:off x="548640" y="3291840"/>
            <a:ext cx="110628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6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Questions &amp; discussion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5"/>
          <p:cNvSpPr/>
          <p:nvPr/>
        </p:nvSpPr>
        <p:spPr>
          <a:xfrm>
            <a:off x="5367240" y="4023360"/>
            <a:ext cx="1463040" cy="360"/>
          </a:xfrm>
          <a:prstGeom prst="line">
            <a:avLst/>
          </a:prstGeom>
          <a:ln w="25560">
            <a:solidFill>
              <a:srgbClr val="C9A2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6"/>
          <p:cNvSpPr/>
          <p:nvPr/>
        </p:nvSpPr>
        <p:spPr>
          <a:xfrm>
            <a:off x="548640" y="6126480"/>
            <a:ext cx="110628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Gestion des Notes d'une Université – Système LMD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Application>LibreOffice/26.2.5.2$Linux_X86_64 LibreOffice_project/620$Build-2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2026-08-30T16:56:30Z</dcterms:created>
  <dc:creator>PptxGenJS</dc:creator>
  <dc:description/>
  <dc:language>fr-FR</dc:language>
  <cp:lastModifiedBy/>
  <dcterms:modified xsi:type="dcterms:W3CDTF">2026-09-09T06:22:53Z</dcterms:modified>
  <cp:revision>15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13</vt:r8>
  </property>
  <property fmtid="{D5CDD505-2E9C-101B-9397-08002B2CF9AE}" pid="3" name="PresentationFormat">
    <vt:lpwstr>On-screen Show (16:9)</vt:lpwstr>
  </property>
  <property fmtid="{D5CDD505-2E9C-101B-9397-08002B2CF9AE}" pid="4" name="Slides">
    <vt:r8>13</vt:r8>
  </property>
</Properties>
</file>