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4023360" cy="402336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DU CAMEROUN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académique ARITED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d'apprentissage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framework Flutter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d'applications mobiles pour le projet « Gestion des Notes d'une Université — Système LMD 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92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Ngue Mbong André Fitzgerald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Thomas Messi Nguele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cours-et-fiches.com — Cours Flutter Complet  ·  Lundi 31 août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 RAPPORT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81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Flutter 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hot reload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81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de base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(mise en page)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599432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599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581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StatefulWidget &amp; état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330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et grilles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1600200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1581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(GoRouter)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2350008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&amp; appels API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63640" y="3099816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081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(Riverpod)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63640" y="3849624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6364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38313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local &amp; publication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63640" y="4599432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63640" y="4599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4581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63640" y="5349240"/>
            <a:ext cx="420624" cy="420624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63640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5330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application projet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Flutter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UI open source de Google pour créer des apps natives iOS, Android, Web et Desktop à partir d'une seule base de code. Écrit en Dart, il dessine chaque pixel avec son propre moteur de rendu (Skia / Impeller) — pas de pont vers les composants natifs.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/ TypeScript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Moteur propre (Skia/Impeller)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Composants natifs via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Excellente (compilation native)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 (New Architecture)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Rendu visuel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Identique sur toutes plateformes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natif par plateforme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/ Desktop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Supporté officiellement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 (Expo Web)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par Google, BMW, Alibaba, eBay, Nubank.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 (SUITE)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&amp; prise en 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6675120" cy="3566160"/>
          </a:xfrm>
          <a:prstGeom prst="roundRect">
            <a:avLst>
              <a:gd name="adj" fmla="val 1538"/>
            </a:avLst>
          </a:prstGeom>
          <a:solidFill>
            <a:srgbClr val="1B2A44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56362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56362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56362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801368"/>
            <a:ext cx="6217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Vérifier l'installation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doctor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un projet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create gestion_notes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gestion_notes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Lancer l'application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run              # émulateur / appareil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run -d chrome    # web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Hot reload : touche 'r'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Hot restart : touche 'R'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141732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E9EF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0" y="16459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10312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doctor vérifie tous les outils requis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hot reload applique les modifications en une fraction de seconde, sans perdre l'état courant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build génère les binaires de production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widgets de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Flutter, tout est un widget : texte, boutons, espacements, colonnes — même l'application elle-même. Les widgets s'imbriquent en arbre (widget tree).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E9EF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3055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du texte stylé (taille, couleur, gras)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E9EF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3055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Icon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231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réseau/locale, icônes Material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53512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0266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ElevatedButton / TextButton / IconButton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1927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interactifs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0266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31927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équivalent stylé d'une &lt;div&gt; (padding, couleur, ombre)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E9EF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92277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2153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Material Design avec ombre portée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— la mise en page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: empile des widgets verticalement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: aligne des widgets horizontalement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superpose des widgets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: occupe l'espace restant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/ SingleChildScrollView : espacement et défilement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1B2A44"/>
          </a:solidFill>
          <a:ln/>
        </p:spPr>
      </p:sp>
      <p:sp>
        <p:nvSpPr>
          <p:cNvPr id="8" name="Shape 6"/>
          <p:cNvSpPr/>
          <p:nvPr/>
        </p:nvSpPr>
        <p:spPr>
          <a:xfrm>
            <a:off x="6464808" y="160934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6665976" y="160934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6867144" y="160934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47088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crossAxisAlignment: CrossAxisAlignment.start,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[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Text('Note finale',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style: TextStyle(fontSize: 22)),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SizedBox(height: 8),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Text('Mathématiques — S1'),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mainAxisAlignment: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MainAxisAlignment.spaceBetween,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[Text('Matière'), Text('Note')],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StatefulWidget et gestion de l'état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StatelessWidget : immuable, pas d'état interne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StatefulWidget : possède un état mutable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 déclenche la reconstruction (rebuild) du widget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setState(), Flutter ne redessine pas l'écran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1B2A44"/>
          </a:solidFill>
          <a:ln/>
        </p:spPr>
      </p:sp>
      <p:sp>
        <p:nvSpPr>
          <p:cNvPr id="8" name="Shape 6"/>
          <p:cNvSpPr/>
          <p:nvPr/>
        </p:nvSpPr>
        <p:spPr>
          <a:xfrm>
            <a:off x="6464808" y="160934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6665976" y="160934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6867144" y="160934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47088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_CompteurState extends State&lt;Compteur&gt;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_nombre = 0;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_incrementer()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setState(() =&gt; _nombre++);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Column(children: [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Text('Requêtes : $_nombre'),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ElevatedButton(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onPressed: _incrementer,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child: Text('Ajouter'),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Listes et grilles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 est recommandé pour les grandes listes : il ne construit que les éléments visibles à l'écran (recyclage), essentiel pour la performance — par exemple la liste des étudiants inscrits.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438912" cy="438912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2231136"/>
            <a:ext cx="10469880" cy="777240"/>
          </a:xfrm>
          <a:prstGeom prst="roundRect">
            <a:avLst>
              <a:gd name="adj" fmla="val 7059"/>
            </a:avLst>
          </a:prstGeom>
          <a:solidFill>
            <a:srgbClr val="E9EF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26771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26771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performante, construction à la demande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438912" cy="438912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43000" y="3191256"/>
            <a:ext cx="1046988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32278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GridView.builder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22783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en grille (ex. matières, classes)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438912" cy="438912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43000" y="4151376"/>
            <a:ext cx="10469880" cy="777240"/>
          </a:xfrm>
          <a:prstGeom prst="roundRect">
            <a:avLst>
              <a:gd name="adj" fmla="val 7059"/>
            </a:avLst>
          </a:prstGeom>
          <a:solidFill>
            <a:srgbClr val="E9EF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371600" y="41879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ListView.separated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418795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avec séparateurs entre éléments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et routing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 est le package recommandé : il déclare les routes de manière centralisée, avec support natif des URLs (utile pour la version Web).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context.go('/') — remplace la pile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context.push('/bulletin/21A123') — empile une page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context.pop() — retour en arrière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NavigationBar pour une navigation par onglets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1B2A44"/>
          </a:solidFill>
          <a:ln/>
        </p:spPr>
      </p:sp>
      <p:sp>
        <p:nvSpPr>
          <p:cNvPr id="9" name="Shape 7"/>
          <p:cNvSpPr/>
          <p:nvPr/>
        </p:nvSpPr>
        <p:spPr>
          <a:xfrm>
            <a:off x="6464808" y="151790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976" y="151790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1" name="Shape 9"/>
          <p:cNvSpPr/>
          <p:nvPr/>
        </p:nvSpPr>
        <p:spPr>
          <a:xfrm>
            <a:off x="6867144" y="151790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755648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router = GoRouter(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routes: [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GoRoute(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'/',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builder: (c, s) =&gt; AccueilScreen(),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GoRoute(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'/bulletin/:matricule',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builder: (c, s) =&gt; BulletinScreen(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matricule: s.pathParameters['matricule']!,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MaterialApp.router(routerConfig: router)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CHAPITRES 7 &amp;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Formulaires et appels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FORMULAIRES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 GlobalKey&lt;FormState&gt; regroupe les champs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TextFormField avec validator pour la validation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formKey.currentState!.validate() avant soumission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&amp; API (Dio)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: package de référence pour les requêtes HTTP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Dart avec fromJson / toJson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FutureBuilder pour afficher un résultat asynchrone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1B2A44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56362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5976" y="156362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6867144" y="156362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801368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ApiService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Dio _dio = Dio(BaseOptions(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baseUrl: 'https://api.gestion-notes.univ.cm'));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Future&lt;List&lt;Note&gt;&gt; getNotes(String matricule)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r = await _dio.get(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'/etudiants/$matricule/notes');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(r.data as List)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.map((n) =&gt; Note.fromJson(n)).toList();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FutureBuilder&lt;List&lt;Note&gt;&gt;(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future: apiService.getNotes(matricule),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builder: (context, snapshot) { ... },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management — Riverpod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est la solution recommandée pour partager un état entre plusieurs écrans : elle gère automatiquement le chargement et la mise en cache des données asynchrones (contrairement à FutureBuilder, qui relance l'appel à chaque reconstruction).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Idéal pour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local d'un widget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moyennes à grandes (recommandé)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 / Cubit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stricte, apps d'entreprise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 état partagé (prédécesseur de Riverpod)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B2A44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503834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" y="503834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44" y="503834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276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ref.watch(notesProvider(matricule)).when(data: ..., loading: ..., error: ...)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CHAPITRES 10 &amp; 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Stockage local et publication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STOCKAGE LOCAL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: clé/valeur simple (jeton, préférences)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(sqflite) : base relationnelle locale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: base NoSQL très rapide, alternative recommandée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5394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Play Console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Connect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build/web/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Vercel, Firebase, Netlify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1417320"/>
            <a:ext cx="5394960" cy="4937760"/>
          </a:xfrm>
          <a:prstGeom prst="roundRect">
            <a:avLst>
              <a:gd name="adj" fmla="val 1111"/>
            </a:avLst>
          </a:prstGeom>
          <a:solidFill>
            <a:srgbClr val="1B2A44"/>
          </a:solidFill>
          <a:ln/>
        </p:spPr>
      </p:sp>
      <p:sp>
        <p:nvSpPr>
          <p:cNvPr id="11" name="Shape 8"/>
          <p:cNvSpPr/>
          <p:nvPr/>
        </p:nvSpPr>
        <p:spPr>
          <a:xfrm>
            <a:off x="6464808" y="156362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9"/>
          <p:cNvSpPr/>
          <p:nvPr/>
        </p:nvSpPr>
        <p:spPr>
          <a:xfrm>
            <a:off x="6665976" y="156362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0"/>
          <p:cNvSpPr/>
          <p:nvPr/>
        </p:nvSpPr>
        <p:spPr>
          <a:xfrm>
            <a:off x="6867144" y="156362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801368"/>
            <a:ext cx="49377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prefs = await SharedPreferences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.getInstance();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prefs.setString('token', 'abc123');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token = prefs.getString('token');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de production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build apk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build appbundle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build ios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build web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Icône &amp; splash screen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pub run flutter_launcher_icons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pub run flutter_native_splash:create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Bonnes pratiques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E9EF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À FAIRE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Constructeurs const dès que possible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les widgets répétés en classes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dispose() les contrôleurs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pour l'état partagé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 pour la navigation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centralisé (ThemeData)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sur iOS ET Android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À ÉVITER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tree trop profond dans un seul fichier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pour l'état global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dispose() (fuites mémoire)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dans les widgets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en production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Hardcoder les couleurs/tailles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performances (DevTools)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&amp; application au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Briques prioritaires pour le projet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+ NavigationBar (Accueil / Notes / Profil)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d'authentification commun aux 3 acteurs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ApiService basé sur Dio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pour l'état de connexion et les notes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 pour matières, notes, requêtes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6276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LIEN AVEC LES DIAGRAMMES UML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4884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cas d'utilisation → un écran Flutter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diagramme de classes → les modèles Dart (Étudiant, Note, Bulletin, Requête) avec fromJson/toJson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diagramme de séquence → l'enchaînement des appels ApiService / Riverpod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 ·  Projet Gestion des Notes d'une Université – Système LMD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37744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Flutter — Gestion des Notes d'une Université – Système LMD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2026-08-31T05:32:20Z</dcterms:created>
  <dcterms:modified xsi:type="dcterms:W3CDTF">2026-08-31T05:32:20Z</dcterms:modified>
</cp:coreProperties>
</file>