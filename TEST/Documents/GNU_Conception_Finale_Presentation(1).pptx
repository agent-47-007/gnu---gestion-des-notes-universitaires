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64b7b015a4e56" /><Relationship Type="http://schemas.openxmlformats.org/officeDocument/2006/relationships/extended-properties" Target="/docProps/app.xml" Id="R83052f72e0054743" /><Relationship Type="http://schemas.openxmlformats.org/officeDocument/2006/relationships/officeDocument" Target="/ppt/presentation.xml" Id="R8fb0e20800d2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2517fb6c84ac1"/>
  </p:sldMasterIdLst>
  <p:notesMasterIdLst>
    <p:notesMasterId xmlns:r="http://schemas.openxmlformats.org/officeDocument/2006/relationships" r:id="Rb7314b99703440dc"/>
  </p:notesMasterIdLst>
  <p:sldIdLst>
    <p:sldId xmlns:r="http://schemas.openxmlformats.org/officeDocument/2006/relationships" id="256" r:id="Rf5df2c9c9c8c4a7f"/>
    <p:sldId xmlns:r="http://schemas.openxmlformats.org/officeDocument/2006/relationships" id="257" r:id="Rb3f5a57d67384983"/>
    <p:sldId xmlns:r="http://schemas.openxmlformats.org/officeDocument/2006/relationships" id="258" r:id="Re666e95e46f5411e"/>
    <p:sldId xmlns:r="http://schemas.openxmlformats.org/officeDocument/2006/relationships" id="259" r:id="R554ed4e8b2e6481b"/>
    <p:sldId xmlns:r="http://schemas.openxmlformats.org/officeDocument/2006/relationships" id="260" r:id="R23d3fa1d911c4781"/>
    <p:sldId xmlns:r="http://schemas.openxmlformats.org/officeDocument/2006/relationships" id="261" r:id="Rc72463a33eb5405f"/>
    <p:sldId xmlns:r="http://schemas.openxmlformats.org/officeDocument/2006/relationships" id="262" r:id="Ra09be3e5fa184b73"/>
    <p:sldId xmlns:r="http://schemas.openxmlformats.org/officeDocument/2006/relationships" id="263" r:id="Ra75b7d54325d421b"/>
    <p:sldId xmlns:r="http://schemas.openxmlformats.org/officeDocument/2006/relationships" id="264" r:id="R00dfe3d1265e4b41"/>
    <p:sldId xmlns:r="http://schemas.openxmlformats.org/officeDocument/2006/relationships" id="265" r:id="R9a76e0cd71ed493d"/>
    <p:sldId xmlns:r="http://schemas.openxmlformats.org/officeDocument/2006/relationships" id="266" r:id="R5ecead8924124f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56a1ffc5334a7b" /><Relationship Type="http://schemas.openxmlformats.org/officeDocument/2006/relationships/slideMaster" Target="/ppt/slideMasters/slideMaster1.xml" Id="R5a12517fb6c84ac1" /><Relationship Type="http://schemas.openxmlformats.org/officeDocument/2006/relationships/notesMaster" Target="/ppt/notesMasters/notesMaster1.xml" Id="Rb7314b99703440dc" /><Relationship Type="http://schemas.openxmlformats.org/officeDocument/2006/relationships/presProps" Target="/ppt/presProps.xml" Id="R370b01e0e5d3443d" /><Relationship Type="http://schemas.openxmlformats.org/officeDocument/2006/relationships/tableStyles" Target="/ppt/tableStyles.xml" Id="R5ab5b3cc38364734" /><Relationship Type="http://schemas.openxmlformats.org/officeDocument/2006/relationships/slide" Target="/ppt/slides/slide1.xml" Id="Rf5df2c9c9c8c4a7f" /><Relationship Type="http://schemas.openxmlformats.org/officeDocument/2006/relationships/slide" Target="/ppt/slides/slide2.xml" Id="Rb3f5a57d67384983" /><Relationship Type="http://schemas.openxmlformats.org/officeDocument/2006/relationships/slide" Target="/ppt/slides/slide3.xml" Id="Re666e95e46f5411e" /><Relationship Type="http://schemas.openxmlformats.org/officeDocument/2006/relationships/slide" Target="/ppt/slides/slide4.xml" Id="R554ed4e8b2e6481b" /><Relationship Type="http://schemas.openxmlformats.org/officeDocument/2006/relationships/slide" Target="/ppt/slides/slide5.xml" Id="R23d3fa1d911c4781" /><Relationship Type="http://schemas.openxmlformats.org/officeDocument/2006/relationships/slide" Target="/ppt/slides/slide6.xml" Id="Rc72463a33eb5405f" /><Relationship Type="http://schemas.openxmlformats.org/officeDocument/2006/relationships/slide" Target="/ppt/slides/slide7.xml" Id="Ra09be3e5fa184b73" /><Relationship Type="http://schemas.openxmlformats.org/officeDocument/2006/relationships/slide" Target="/ppt/slides/slide8.xml" Id="Ra75b7d54325d421b" /><Relationship Type="http://schemas.openxmlformats.org/officeDocument/2006/relationships/slide" Target="/ppt/slides/slide9.xml" Id="R00dfe3d1265e4b41" /><Relationship Type="http://schemas.openxmlformats.org/officeDocument/2006/relationships/slide" Target="/ppt/slides/slide10.xml" Id="R9a76e0cd71ed493d" /><Relationship Type="http://schemas.openxmlformats.org/officeDocument/2006/relationships/slide" Target="/ppt/slides/slide11.xml" Id="R5ecead8924124f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cbea69cd34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f4c69f67e641c7" /><Relationship Type="http://schemas.openxmlformats.org/officeDocument/2006/relationships/notesMaster" Target="/ppt/notesMasters/notesMaster1.xml" Id="R277fa2a81c6846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9659fc258f47c7" /><Relationship Type="http://schemas.openxmlformats.org/officeDocument/2006/relationships/notesMaster" Target="/ppt/notesMasters/notesMaster1.xml" Id="Rf5f1bec1c14048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b801f2c1074ddc" /><Relationship Type="http://schemas.openxmlformats.org/officeDocument/2006/relationships/notesMaster" Target="/ppt/notesMasters/notesMaster1.xml" Id="R5a9095bcadbf44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0c3ee226694e96" /><Relationship Type="http://schemas.openxmlformats.org/officeDocument/2006/relationships/notesMaster" Target="/ppt/notesMasters/notesMaster1.xml" Id="R70819eb1a6d54d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4316f3f8d4405" /><Relationship Type="http://schemas.openxmlformats.org/officeDocument/2006/relationships/notesMaster" Target="/ppt/notesMasters/notesMaster1.xml" Id="Rc45e67442fcf47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29627f7a804935" /><Relationship Type="http://schemas.openxmlformats.org/officeDocument/2006/relationships/notesMaster" Target="/ppt/notesMasters/notesMaster1.xml" Id="Ra175b0bca72342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64e07e7bf54e16" /><Relationship Type="http://schemas.openxmlformats.org/officeDocument/2006/relationships/notesMaster" Target="/ppt/notesMasters/notesMaster1.xml" Id="R778f893c7d4546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916bc6916a4518" /><Relationship Type="http://schemas.openxmlformats.org/officeDocument/2006/relationships/notesMaster" Target="/ppt/notesMasters/notesMaster1.xml" Id="Re2a8cbb1d68948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b7a96eb5bd4040" /><Relationship Type="http://schemas.openxmlformats.org/officeDocument/2006/relationships/notesMaster" Target="/ppt/notesMasters/notesMaster1.xml" Id="Rc3a4e49bd171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852eae0ac340c8" /><Relationship Type="http://schemas.openxmlformats.org/officeDocument/2006/relationships/notesMaster" Target="/ppt/notesMasters/notesMaster1.xml" Id="Rf61c374c272141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f9eb004f074688" /><Relationship Type="http://schemas.openxmlformats.org/officeDocument/2006/relationships/notesMaster" Target="/ppt/notesMasters/notesMaster1.xml" Id="R1f1f6d593ead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fe91dc85f44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50b1ffb7c54a83" /><Relationship Type="http://schemas.openxmlformats.org/officeDocument/2006/relationships/slideLayout" Target="/ppt/slideLayouts/slideLayout1.xml" Id="R85bae1323d7e4f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ae1323d7e4f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a5aeb0d044fe0" /><Relationship Type="http://schemas.openxmlformats.org/officeDocument/2006/relationships/notesSlide" Target="/ppt/notesSlides/notesSlide1.xml" Id="Rf4fc100b98ab46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a083db6ff45e5" /><Relationship Type="http://schemas.openxmlformats.org/officeDocument/2006/relationships/notesSlide" Target="/ppt/notesSlides/notesSlide2.xml" Id="Raaee5a4aef7743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3fa0dd4f24681" /><Relationship Type="http://schemas.openxmlformats.org/officeDocument/2006/relationships/notesSlide" Target="/ppt/notesSlides/notesSlide3.xml" Id="R76c50b1a26ce46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a552c512c4fe3" /><Relationship Type="http://schemas.openxmlformats.org/officeDocument/2006/relationships/notesSlide" Target="/ppt/notesSlides/notesSlide4.xml" Id="Rda8de67464c943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f9c579ef14e0e" /><Relationship Type="http://schemas.openxmlformats.org/officeDocument/2006/relationships/notesSlide" Target="/ppt/notesSlides/notesSlide5.xml" Id="Rabf063442ff84e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b344f3ad34c1c" /><Relationship Type="http://schemas.openxmlformats.org/officeDocument/2006/relationships/notesSlide" Target="/ppt/notesSlides/notesSlide6.xml" Id="Rb1736ae9cc924d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5fae8065149e6" /><Relationship Type="http://schemas.openxmlformats.org/officeDocument/2006/relationships/notesSlide" Target="/ppt/notesSlides/notesSlide7.xml" Id="Rc4f618178b8b49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dc638b53b4eb5" /><Relationship Type="http://schemas.openxmlformats.org/officeDocument/2006/relationships/notesSlide" Target="/ppt/notesSlides/notesSlide8.xml" Id="R0f0b9569e5a246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421f59c3047a0" /><Relationship Type="http://schemas.openxmlformats.org/officeDocument/2006/relationships/notesSlide" Target="/ppt/notesSlides/notesSlide9.xml" Id="R314063d258c045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6babbdac64562" /><Relationship Type="http://schemas.openxmlformats.org/officeDocument/2006/relationships/notesSlide" Target="/ppt/notesSlides/notesSlide10.xml" Id="R6a6a31d2f8ef4e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e2db9c3394b19" /><Relationship Type="http://schemas.openxmlformats.org/officeDocument/2006/relationships/notesSlide" Target="/ppt/notesSlides/notesSlide11.xml" Id="Rbb9fd71a1f6f42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C78ED-A1C5-4C55-A183-B538787A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4AA3E-59B5-4464-B0C0-EC5C902E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953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33C99-F751-4A3E-9077-F130E5A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478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5369E-C9FA-493F-8CB4-020C7F23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002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BC756-37DF-4EF5-A652-C2656ADF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BF8C1-2357-40E1-9291-80A36A19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57250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1B2942"/>
                </a:solidFill>
              </a:defRPr>
            </a:pPr>
            <a:r>
              <a:rPr sz="4800" b="0">
                <a:solidFill>
                  <a:srgbClr val="1B2942"/>
                </a:solidFill>
              </a:rPr>
              <a:t>GNU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40D7D-78DC-457B-9D25-CD09681F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2F2F"/>
                </a:solidFill>
              </a:defRPr>
            </a:pPr>
            <a:r>
              <a:rPr sz="1050" b="1">
                <a:solidFill>
                  <a:srgbClr val="8C2F2F"/>
                </a:solidFill>
              </a:rPr>
              <a:t>GESTION DES NOTES · SYSTÈME LMD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30521-0DC0-4703-A34B-4935F84D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Conception fonctionnelle</a:t>
            </a:r>
          </a:p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et technique finalisée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2A23F-93ED-4A8E-91DB-E7C8C348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F66"/>
                </a:solidFill>
              </a:defRPr>
            </a:pPr>
            <a:r>
              <a:rPr sz="1500" b="0">
                <a:solidFill>
                  <a:srgbClr val="5B5F66"/>
                </a:solidFill>
              </a:rPr>
              <a:t>Application Flutter Web &amp; 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C529E-A345-4204-98F7-B158193A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1B1B1-6B72-4651-A606-FB1920FB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2942"/>
                </a:solidFill>
              </a:defRPr>
            </a:pPr>
            <a:r>
              <a:rPr sz="1200" b="0">
                <a:solidFill>
                  <a:srgbClr val="1B2942"/>
                </a:solidFill>
              </a:rPr>
              <a:t>Ngue Mbong André Fitzgerald</a:t>
            </a:r>
          </a:p>
          <a:p xmlns:a="http://schemas.openxmlformats.org/drawingml/2006/main">
            <a:pPr algn="l">
              <a:defRPr sz="1200" b="0">
                <a:solidFill>
                  <a:srgbClr val="1B2942"/>
                </a:solidFill>
              </a:defRPr>
            </a:pPr>
            <a:r>
              <a:rPr sz="1200" b="0">
                <a:solidFill>
                  <a:srgbClr val="1B2942"/>
                </a:solidFill>
              </a:rPr>
              <a:t>Stage académique ARITED · 07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140353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2C992-0E93-4507-B8C0-F568601A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ÉTAT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2C4CE-DE14-41DB-8D31-512CCEFF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La conception est désormais exploitable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FC8F3-5BA9-48F8-8D60-55B2EDBF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38BA7-21C4-4240-930B-B26B1579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20828-21D1-47CD-8DEB-564733AF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A9B62-79C5-4B16-B986-08B46B76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33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3C6E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DE4A3-2408-45E2-9ED7-8A3FB5FC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C6E52"/>
                </a:solidFill>
              </a:defRPr>
            </a:pPr>
            <a:r>
              <a:rPr sz="825" b="1">
                <a:solidFill>
                  <a:srgbClr val="3C6E52"/>
                </a:solidFill>
              </a:rPr>
              <a:t>ACQUIS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3F92B-1DD8-4F43-BC87-B1F26568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9908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Besoins, acteurs, règles LMD et cas d’utilisation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1E4F8-AB70-451C-A836-09ABBE2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F7FF2-3786-4641-8280-149CBEE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811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FINALISÉ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B8789-7D6B-4513-8339-440A0D8A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19300"/>
            <a:ext cx="29908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Modèle de données, états, architecture et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399F0-42D1-4454-88F8-C53717C4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3333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6093D-C821-41D1-B7C6-CD86E64E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811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2F2F"/>
                </a:solidFill>
              </a:defRPr>
            </a:pPr>
            <a:r>
              <a:rPr sz="825" b="1">
                <a:solidFill>
                  <a:srgbClr val="8C2F2F"/>
                </a:solidFill>
              </a:rPr>
              <a:t>PROCHAINE ÉTAPE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5278D-4A31-4130-9236-428A33C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9908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Sprint 0 : Laravel, PostgreSQL et Flutter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3D88F-8B0D-4BAD-B064-FAD06F5A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2942"/>
                </a:solidFill>
              </a:defRPr>
            </a:pPr>
            <a:r>
              <a:rPr sz="1800" b="0">
                <a:solidFill>
                  <a:srgbClr val="1B2942"/>
                </a:solidFill>
              </a:rPr>
              <a:t>Décision structurante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9E262-D43E-4151-98DA-A8AEE4FC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B2942"/>
                </a:solidFill>
              </a:defRPr>
            </a:pPr>
            <a:r>
              <a:rPr sz="1725" b="0">
                <a:solidFill>
                  <a:srgbClr val="1B2942"/>
                </a:solidFill>
              </a:rPr>
              <a:t>Flutter consomme une API Laravel sécurisée; PostgreSQL centralise les notes, inscriptions et bulletins.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D09B1-41EF-4373-BF84-3B0CDF0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2870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3C6E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35195-BCEC-4242-A6AF-E1045B8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C6E52"/>
                </a:solidFill>
              </a:defRPr>
            </a:pPr>
            <a:r>
              <a:rPr sz="1200" b="1">
                <a:solidFill>
                  <a:srgbClr val="3C6E52"/>
                </a:solidFill>
              </a:rPr>
              <a:t>Source de vérité : validations et calculs officiels sont exécutés côté serveur.</a:t>
            </a:r>
          </a:p>
        </p:txBody>
      </p:sp>
    </p:spTree>
    <p:extLst>
      <p:ext uri="{BB962C8B-B14F-4D97-AF65-F5344CB8AC3E}">
        <p14:creationId xmlns:p14="http://schemas.microsoft.com/office/powerpoint/2010/main" val="808592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34287-9BA2-469C-AF28-BBD5AB29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PÉRIMÈTRE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7BFAF-F327-4931-B3CB-2A2CF3B4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Un même cycle, trois responsabilités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9BAC4-E504-48FA-AC72-D3F7587D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A61C9-A38B-4836-964A-31192E4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DD0A0-3D42-4CFA-A0FC-DD40D8BB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AAB82-008B-4619-8100-B05A82AD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2E879-3BFE-4E47-AA3A-86A0F70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68966-1806-41A2-B65E-451BCD32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29908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Structure · inscriptions · contrôle · publication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71D54-0BCF-4F81-9A5A-6A4AC6E2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DA6C0-BE01-4DBB-8E46-23393E10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2880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2F2F"/>
                </a:solidFill>
              </a:defRPr>
            </a:pPr>
            <a:r>
              <a:rPr sz="825" b="1">
                <a:solidFill>
                  <a:srgbClr val="8C2F2F"/>
                </a:solidFill>
              </a:rPr>
              <a:t>ENSEIGNANT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F4AC7-A6FD-4E00-99F6-7F302AE5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66925"/>
            <a:ext cx="29908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Évaluations · saisie · vérification · requêtes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E0964-EE1A-4502-812F-5E47D7E4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333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A976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06C7D-5D2C-467C-822C-7126BD92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2880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762C"/>
                </a:solidFill>
              </a:defRPr>
            </a:pPr>
            <a:r>
              <a:rPr sz="825" b="1">
                <a:solidFill>
                  <a:srgbClr val="A9762C"/>
                </a:solidFill>
              </a:rPr>
              <a:t>ÉTUDIANT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CD53C-3626-4BA1-817C-2A48A7CC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29908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Consultation · bulletin · réclamation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8D6AD-C12B-4931-80AA-A91F7501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B2942"/>
                </a:solidFill>
              </a:defRPr>
            </a:pPr>
            <a:r>
              <a:rPr sz="1875" b="0">
                <a:solidFill>
                  <a:srgbClr val="1B2942"/>
                </a:solidFill>
              </a:rPr>
              <a:t>Hors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24A76-F316-4032-95A8-7B59320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A0E23-3819-4FE5-BBCA-747177C5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Salles physiques et emplois du temps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58832-98A5-48EE-A376-F5AED0CD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BBF42-BA48-4DAF-A6D0-79E77F64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Paiements et notifications SMS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23185B-C915-4DAB-A58F-65D267C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AFEF0-D5F7-4308-A289-A5E6F111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Synchronisation temps réel multi-appareils</a:t>
            </a:r>
          </a:p>
        </p:txBody>
      </p:sp>
    </p:spTree>
    <p:extLst>
      <p:ext uri="{BB962C8B-B14F-4D97-AF65-F5344CB8AC3E}">
        <p14:creationId xmlns:p14="http://schemas.microsoft.com/office/powerpoint/2010/main" val="1171014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97B79-06F8-4994-A244-7CA77D16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RÈGLES MÉTIER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9D1D4-26B2-4A75-BE4D-1EF77721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Les règles qui protègent le résultat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33E54-C9DC-4C15-B020-77A63969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02A5E-DF25-4A5A-9DCE-D9E8AAD3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31461-4046-45B4-9AA3-BAA06CF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3BC89-D180-4B2F-A5B2-74220BBB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DF28F-F2DF-4E81-AF1E-BB3C9535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Une note est toujours comprise entre 0 et 20.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D00D7-1826-4C36-ADD4-775390A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CB401-72B5-4472-92BE-08482B67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Une absence reste MANQUANTE — jamais transformée en zéro.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64B77-45CB-4774-A7B6-99596087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CE8E3-1C6A-4117-88AF-437DF1F2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Seules les notes validées peuvent être publiées.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BE858-9757-461D-83FE-838EAF6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AF16B-E38E-46E9-8009-FE9569F4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Toute correction après publication laisse une trace d’audit.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41EA1-891A-4CE3-97D5-7A283F15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E82CA-B705-4A6E-BE97-D68EDFBD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Une requête peut viser une matière sans note existante.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5B5F1-994A-440C-96E4-2E74AEAE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667000" cy="1666875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3E62F-7CF2-4BE2-85AF-2FE82BA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288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2F2F"/>
                </a:solidFill>
              </a:defRPr>
            </a:pPr>
            <a:r>
              <a:rPr sz="825" b="1">
                <a:solidFill>
                  <a:srgbClr val="8C2F2F"/>
                </a:solidFill>
              </a:rPr>
              <a:t>AVEC TP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FCEDA-586D-4908-A8BD-55AAD565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66925"/>
            <a:ext cx="2324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20 % CC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30 % TP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50 % SN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18AFA-05F6-4C3D-873F-A9E080F7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6670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56C49-061E-46D1-8FBA-CC545537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290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SANS TP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DE8ED-C98F-4FFC-8911-A0BA3384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67175"/>
            <a:ext cx="2324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30 % CC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70 % SN</a:t>
            </a:r>
          </a:p>
        </p:txBody>
      </p:sp>
    </p:spTree>
    <p:extLst>
      <p:ext uri="{BB962C8B-B14F-4D97-AF65-F5344CB8AC3E}">
        <p14:creationId xmlns:p14="http://schemas.microsoft.com/office/powerpoint/2010/main" val="1992694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23FA6-CBB2-4AE1-9338-D237B289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MODÈLE DE DONNÉES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1559F-520F-4E61-89E5-E4A6A81A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Un modèle centré sur l’inscription annuelle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13BAB-B01A-4D7B-8344-B5326906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2132A-5F00-46EC-999D-9DBC0B8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73731-C0F7-4BCE-8997-5D8B8F0F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D0533-0B09-4479-A1FA-B6031718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28875" cy="1952625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8E5D5-9551-4CB4-8203-B7815DAA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2DC5C-E249-4EA5-AA72-0376D941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20859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Université → Faculté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→ Département → Filière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→ Niveau → Classe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FFAEF-483F-4882-B426-5EE34090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2428875" cy="1952625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B5B3B-07C3-4A0F-8CA1-127A26B3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335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2F2F"/>
                </a:solidFill>
              </a:defRPr>
            </a:pPr>
            <a:r>
              <a:rPr sz="825" b="1">
                <a:solidFill>
                  <a:srgbClr val="8C2F2F"/>
                </a:solidFill>
              </a:rPr>
              <a:t>IDENTITÉ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95248-0E01-4DCD-AB7D-A5806588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71675"/>
            <a:ext cx="20859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Utilisateur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Étudiant · Enseignant ·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77785-2C2D-4737-9E17-E959E120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19250"/>
            <a:ext cx="2428875" cy="1952625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A976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BF12-D310-45E9-BBF3-F0FADC5B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335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762C"/>
                </a:solidFill>
              </a:defRPr>
            </a:pPr>
            <a:r>
              <a:rPr sz="825" b="1">
                <a:solidFill>
                  <a:srgbClr val="A9762C"/>
                </a:solidFill>
              </a:rPr>
              <a:t>PÉDAGOGIE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C60CE-730B-431F-9521-37291180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20859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Semestre · UE · Matière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Affectation · ChoixMatière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5F8D2-0140-4E5B-B600-F741D5FB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143250" cy="1952625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3C6E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31795-4756-49D9-9E61-3C07F341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C6E52"/>
                </a:solidFill>
              </a:defRPr>
            </a:pPr>
            <a:r>
              <a:rPr sz="825" b="1">
                <a:solidFill>
                  <a:srgbClr val="3C6E52"/>
                </a:solidFill>
              </a:rPr>
              <a:t>ÉVALUATION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56781-918D-4C56-9907-00E856CA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71675"/>
            <a:ext cx="2800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Évaluation · Note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Requête · Bulletin · 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845EB-E02C-4F11-9EE4-2D7C7057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2942"/>
                </a:solidFill>
              </a:defRPr>
            </a:pPr>
            <a:r>
              <a:rPr sz="1800" b="0">
                <a:solidFill>
                  <a:srgbClr val="1B2942"/>
                </a:solidFill>
              </a:rPr>
              <a:t>Correction majeure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EB385-789C-44C0-9DB2-EA23CC3E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C2F2F"/>
                </a:solidFill>
              </a:defRPr>
            </a:pPr>
            <a:r>
              <a:rPr sz="2025" b="1">
                <a:solidFill>
                  <a:srgbClr val="8C2F2F"/>
                </a:solidFill>
              </a:rPr>
              <a:t>Étudiant  →  InscriptionClasse  →  Classe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D6C99-BDBF-4762-A6DE-858F9ACC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942"/>
                </a:solidFill>
              </a:defRPr>
            </a:pPr>
            <a:r>
              <a:rPr sz="1500" b="0">
                <a:solidFill>
                  <a:srgbClr val="1B2942"/>
                </a:solidFill>
              </a:rPr>
              <a:t>Une classe regroupe les inscrits d’un même niveau, d’une même filière et d’une même année académique.</a:t>
            </a:r>
          </a:p>
        </p:txBody>
      </p:sp>
    </p:spTree>
    <p:extLst>
      <p:ext uri="{BB962C8B-B14F-4D97-AF65-F5344CB8AC3E}">
        <p14:creationId xmlns:p14="http://schemas.microsoft.com/office/powerpoint/2010/main" val="473784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DCD7C-1198-48A9-A19E-87BF864B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6556D-AB4E-4281-9B7C-2FD1FE61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Une architecture centralisée et sécurisée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0DF2E-B9E4-4BE2-A578-D3864270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EC929-6133-4823-9DDB-EB0D3E2E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C5A1A-31F6-4FA7-A6AB-2530D2AB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25288-217F-463E-AA17-4131D4A0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72390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8AD53-ED90-4B64-A3F3-5E83AE49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430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2F2F"/>
                </a:solidFill>
              </a:defRPr>
            </a:pPr>
            <a:r>
              <a:rPr sz="1125" b="1">
                <a:solidFill>
                  <a:srgbClr val="8C2F2F"/>
                </a:solidFill>
              </a:rPr>
              <a:t>FLUTTER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EC728-05E9-49DE-8C05-2E98726A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430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942"/>
                </a:solidFill>
              </a:defRPr>
            </a:pPr>
            <a:r>
              <a:rPr sz="1500" b="0">
                <a:solidFill>
                  <a:srgbClr val="1B2942"/>
                </a:solidFill>
              </a:rPr>
              <a:t>Screens · widgets GNU · Riverpod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2ACC3-1A72-406D-839D-71A62B38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72390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A976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C6502-6A53-4439-8D20-4944F27F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762C"/>
                </a:solidFill>
              </a:defRPr>
            </a:pPr>
            <a:r>
              <a:rPr sz="1125" b="1">
                <a:solidFill>
                  <a:srgbClr val="A9762C"/>
                </a:solidFill>
              </a:rPr>
              <a:t>API 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3D9F2-57B5-4766-AA5A-56CFB4BF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942"/>
                </a:solidFill>
              </a:defRPr>
            </a:pPr>
            <a:r>
              <a:rPr sz="1500" b="0">
                <a:solidFill>
                  <a:srgbClr val="1B2942"/>
                </a:solidFill>
              </a:rPr>
              <a:t>Laravel · routes · Form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4B433-4A4B-42CB-845A-4D866376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72390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05D71-DBE8-4283-BAFA-09A6732A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95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2942"/>
                </a:solidFill>
              </a:defRPr>
            </a:pPr>
            <a:r>
              <a:rPr sz="1125" b="1">
                <a:solidFill>
                  <a:srgbClr val="1B2942"/>
                </a:solidFill>
              </a:rPr>
              <a:t>SÉCURITÉ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8A46D-E5B4-4B38-AACE-B38E1595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956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942"/>
                </a:solidFill>
              </a:defRPr>
            </a:pPr>
            <a:r>
              <a:rPr sz="1500" b="0">
                <a:solidFill>
                  <a:srgbClr val="1B2942"/>
                </a:solidFill>
              </a:rPr>
              <a:t>Sanctum · middleware · Policies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F1EB7-2BBF-49F5-8E23-55BA0231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72390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3C6E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2F4A8-CCE2-4020-93C3-BE814F99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719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C6E52"/>
                </a:solidFill>
              </a:defRPr>
            </a:pPr>
            <a:r>
              <a:rPr sz="1125" b="1">
                <a:solidFill>
                  <a:srgbClr val="3C6E52"/>
                </a:solidFill>
              </a:rPr>
              <a:t>DONNÉES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1F472-4A53-4C60-8810-C7DAF78A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719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942"/>
                </a:solidFill>
              </a:defRPr>
            </a:pPr>
            <a:r>
              <a:rPr sz="1500" b="0">
                <a:solidFill>
                  <a:srgbClr val="1B2942"/>
                </a:solidFill>
              </a:rPr>
              <a:t>PostgreSQL · Eloquent · migrations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756DA-CF12-4829-9F16-C2314DA3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381250" cy="2286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3C6E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2841A-C54C-4DB2-98CA-62D5E48C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C6E52"/>
                </a:solidFill>
              </a:defRPr>
            </a:pPr>
            <a:r>
              <a:rPr sz="825" b="1">
                <a:solidFill>
                  <a:srgbClr val="3C6E52"/>
                </a:solidFill>
              </a:rPr>
              <a:t>PRINCIPE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4375E-8A0A-4258-8F4B-D2C186DB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47925"/>
            <a:ext cx="20383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Flutter n’accède jamais directement à PostgreSQL.</a:t>
            </a:r>
          </a:p>
        </p:txBody>
      </p:sp>
    </p:spTree>
    <p:extLst>
      <p:ext uri="{BB962C8B-B14F-4D97-AF65-F5344CB8AC3E}">
        <p14:creationId xmlns:p14="http://schemas.microsoft.com/office/powerpoint/2010/main" val="1132523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C266B0-5206-43BC-8E29-817980A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PARCOURS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1296C-5BB3-4DB1-AF2C-F5CD01E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De la saisie à la publication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CB022-0F6D-4775-BB88-4972F4E4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C0329-F471-433B-86AC-6C271A30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AFC3C-9C3C-420E-B241-56CD2463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5507C-C120-47E4-AA1B-8635E6DE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81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C6EBD-DE53-44D8-817D-A755D54D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C2F2F"/>
                </a:solidFill>
              </a:defRPr>
            </a:pPr>
            <a:r>
              <a:rPr sz="2550" b="0">
                <a:solidFill>
                  <a:srgbClr val="8C2F2F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2CCF1-EE66-4F27-A521-4BC93F7D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4668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A5A93-E311-4FDE-86BD-0E5F72F6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624CA-0711-45ED-A41A-05A9BCB3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123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Créer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l’évaluation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4A365-62B2-4D2A-9EE4-09DEE6AE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6CBC1-E3F6-4A49-A2CA-3ED7A9EC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05075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C2F2F"/>
                </a:solidFill>
              </a:defRPr>
            </a:pPr>
            <a:r>
              <a:rPr sz="2550" b="0">
                <a:solidFill>
                  <a:srgbClr val="8C2F2F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59654-DC9F-484C-895F-BA7FA009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4668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29F11-0592-483B-A11E-17AC6BDB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29729-9532-432C-854B-9FDCB9A7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43175"/>
            <a:ext cx="1123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Saisir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les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A5A33-D91C-44F3-A38D-D3ABDA3F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C8636-137C-448E-9869-ED81895D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05075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C2F2F"/>
                </a:solidFill>
              </a:defRPr>
            </a:pPr>
            <a:r>
              <a:rPr sz="2550" b="0">
                <a:solidFill>
                  <a:srgbClr val="8C2F2F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4654F-9CBA-464C-93DD-3ED81BE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14668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CD544-B5D3-4054-A8F8-24582A51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54B76-B9F3-498A-BB7E-E6FAA61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43175"/>
            <a:ext cx="1123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Vérifier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les anomalies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8E369-FD81-4DDC-8696-37280BF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6AD41-1D79-4A1C-B41B-9FD642AE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05075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C2F2F"/>
                </a:solidFill>
              </a:defRPr>
            </a:pPr>
            <a:r>
              <a:rPr sz="2550" b="0">
                <a:solidFill>
                  <a:srgbClr val="8C2F2F"/>
                </a:solidFill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6E21D-60F2-4C58-84FD-4B6FE424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14668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B7AA3-1952-4F9E-A12F-8560B6F2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D73F7-BBA7-49C2-8C03-78D37C94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1123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Valider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la saisie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74399-4EA7-4CEE-88B4-09C30D9C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D80AC-2EEB-433B-AFCC-670D6B11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05075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C2F2F"/>
                </a:solidFill>
              </a:defRPr>
            </a:pPr>
            <a:r>
              <a:rPr sz="2550" b="0">
                <a:solidFill>
                  <a:srgbClr val="8C2F2F"/>
                </a:solidFill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420AF-5C42-48EC-8F15-8D12BA3A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14668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7A90D1-F23A-466F-B79F-CE4BD442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F931C-5E1E-4067-9CC1-770EB33B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123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Calculer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la MGP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38A34-56B9-4FF3-9212-C3E6E5E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4668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828AC-5BC4-4E63-84EB-05CAA754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050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2F2F"/>
                </a:solidFill>
              </a:defRPr>
            </a:pPr>
            <a:r>
              <a:rPr sz="825" b="1">
                <a:solidFill>
                  <a:srgbClr val="8C2F2F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B6428-DB38-4296-8F1C-19EB8225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43175"/>
            <a:ext cx="1123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Publier</a:t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le bulletin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BCC388-0195-4FAD-8730-221EE20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488326-438F-4480-ABB5-9274085B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C2F2F"/>
                </a:solidFill>
              </a:defRPr>
            </a:pPr>
            <a:r>
              <a:rPr sz="1575" b="1">
                <a:solidFill>
                  <a:srgbClr val="8C2F2F"/>
                </a:solidFill>
              </a:rPr>
              <a:t>Scénario alternatif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792D8A-C8EE-4D37-BA92-7201FD78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2942"/>
                </a:solidFill>
              </a:defRPr>
            </a:pPr>
            <a:r>
              <a:rPr sz="1650" b="0">
                <a:solidFill>
                  <a:srgbClr val="1B2942"/>
                </a:solidFill>
              </a:rPr>
              <a:t>Note manquante → requête étudiant → traitement enseignant → correction auditée → nouvelle validation.</a:t>
            </a:r>
          </a:p>
        </p:txBody>
      </p:sp>
    </p:spTree>
    <p:extLst>
      <p:ext uri="{BB962C8B-B14F-4D97-AF65-F5344CB8AC3E}">
        <p14:creationId xmlns:p14="http://schemas.microsoft.com/office/powerpoint/2010/main" val="724167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27FDC3-C958-4CB5-A6A7-23FB5838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BRANDING GNU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1C808-65E1-4288-95C0-9731C257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Une marque issue du registre académique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52322-F0B0-41A4-8E75-326D9806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04E4F-3491-4171-B9B0-07F7C26B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2EE17-EA12-4C82-95E9-8B1FD1BD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24CF3-C4D7-4B53-AB4D-3FA74588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809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B294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FF947-74D9-4717-95B9-80075A71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2942"/>
                </a:solidFill>
              </a:defRPr>
            </a:pPr>
            <a:r>
              <a:rPr sz="900" b="1">
                <a:solidFill>
                  <a:srgbClr val="1B2942"/>
                </a:solidFill>
              </a:rPr>
              <a:t>ENCRE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45830-4EDF-40DA-87A4-6F87A6F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38300"/>
            <a:ext cx="1809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EDACB"/>
          </a:solidFill>
          <a:ln xmlns:a="http://schemas.openxmlformats.org/drawingml/2006/main" w="9525">
            <a:solidFill>
              <a:srgbClr val="DEDA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DB59D-F4DE-4FE6-8917-5DC99BD8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03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5F66"/>
                </a:solidFill>
              </a:defRPr>
            </a:pPr>
            <a:r>
              <a:rPr sz="900" b="1">
                <a:solidFill>
                  <a:srgbClr val="5B5F66"/>
                </a:solidFill>
              </a:rPr>
              <a:t>PAPIER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CA35E-1EA2-4F22-BD63-E92F30F8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38300"/>
            <a:ext cx="1809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F1EE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51BFD-1211-42E4-AEF6-0C1A261F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03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5F66"/>
                </a:solidFill>
              </a:defRPr>
            </a:pPr>
            <a:r>
              <a:rPr sz="900" b="1">
                <a:solidFill>
                  <a:srgbClr val="5B5F66"/>
                </a:solidFill>
              </a:rPr>
              <a:t>PAPIER CLAIR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4FA36-6A07-4645-AC91-35FF4D7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1809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8C2F2F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74155-78EE-4D92-AC9A-D5CDC5A2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03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2942"/>
                </a:solidFill>
              </a:defRPr>
            </a:pPr>
            <a:r>
              <a:rPr sz="900" b="1">
                <a:solidFill>
                  <a:srgbClr val="1B2942"/>
                </a:solidFill>
              </a:rPr>
              <a:t>ROUGE-ENCRE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96AEF-A20C-4331-A248-A53AA03D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8300"/>
            <a:ext cx="1809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A9762C"/>
          </a:solidFill>
          <a:ln xmlns:a="http://schemas.openxmlformats.org/drawingml/2006/main" w="9525">
            <a:solidFill>
              <a:srgbClr val="A976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74C98-BDC4-42A1-A44C-FEC5370F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03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5F66"/>
                </a:solidFill>
              </a:defRPr>
            </a:pPr>
            <a:r>
              <a:rPr sz="900" b="1">
                <a:solidFill>
                  <a:srgbClr val="5B5F66"/>
                </a:solidFill>
              </a:rPr>
              <a:t>OR-SCEAU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803A1-AB99-439D-B36E-3D980689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19087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F9AA6-68A1-4D28-9487-2514BAA1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847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FRAUNCES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8706E-F4BE-4714-8784-6A79DB3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28479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Titres institutionnels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C37BB-6458-4EF3-BF40-FC0491BE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19087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C0402-A350-429E-981B-C10B948D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48050"/>
            <a:ext cx="2847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2942"/>
                </a:solidFill>
              </a:defRPr>
            </a:pPr>
            <a:r>
              <a:rPr sz="825" b="1">
                <a:solidFill>
                  <a:srgbClr val="1B2942"/>
                </a:solidFill>
              </a:rPr>
              <a:t>IBM PLEX SANS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BE705-8BF9-4BE0-B31E-0288AAD1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86175"/>
            <a:ext cx="28479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Interface et texte courant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9303A-6332-4D6B-8CDC-39329622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19087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9C566-4BE9-4CD5-B42D-36E6063C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2847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2F2F"/>
                </a:solidFill>
              </a:defRPr>
            </a:pPr>
            <a:r>
              <a:rPr sz="825" b="1">
                <a:solidFill>
                  <a:srgbClr val="8C2F2F"/>
                </a:solidFill>
              </a:rPr>
              <a:t>IBM PLEX MONO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D8ADE-C989-4A57-8A7A-B1E3F6D7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86175"/>
            <a:ext cx="28479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Matricules · codes · notes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A0A2E-94E3-4330-A4D4-C300C11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2942"/>
                </a:solidFill>
              </a:defRPr>
            </a:pPr>
            <a:r>
              <a:rPr sz="1425" b="1">
                <a:solidFill>
                  <a:srgbClr val="1B2942"/>
                </a:solidFill>
              </a:rPr>
              <a:t>Signature : cinq strates LMD · Ton : institutionnel, rigoureux, rassurant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8E787-4F36-4F1E-BD2D-D59EF0B9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2F2F"/>
                </a:solidFill>
              </a:defRPr>
            </a:pPr>
            <a:r>
              <a:rPr sz="1200" b="1">
                <a:solidFill>
                  <a:srgbClr val="8C2F2F"/>
                </a:solidFill>
              </a:rPr>
              <a:t>Lignes fines · aucune ombre · rouge réservé à l’action et aux anomalies</a:t>
            </a:r>
          </a:p>
        </p:txBody>
      </p:sp>
    </p:spTree>
    <p:extLst>
      <p:ext uri="{BB962C8B-B14F-4D97-AF65-F5344CB8AC3E}">
        <p14:creationId xmlns:p14="http://schemas.microsoft.com/office/powerpoint/2010/main" val="951508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3C2A0-DAD2-4826-A8F9-4B00721E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QUALITÉ &amp;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C6830-E231-4B36-91C9-36B9885A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La validation porte sur les risques réels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062D0-AEF0-4184-91EE-2AC69F4A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8BC7E-9DC6-4085-B586-F3C3427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55280-2ED3-4C93-9D1A-D039EAE7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01571-E1FF-4B18-9DF9-0B394AE9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DCD50-9528-490C-9A20-635CA6CC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Calcul exact avec et sans 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36A70-457E-4C12-8BFC-7338A9B1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AD14D-DC21-4F33-9273-AA5BC219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Refus des valeurs hors de [0,20]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12271-B6A5-43E4-8E30-DFDF3B92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1E37E-C9CD-437D-AA40-015ACEC9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Blocage d’une publication incomplète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44233-E22B-401A-813E-D3928BCC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90F3B-89A7-484A-A686-1BEC6C13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Contrôle d’accès par rôle et matricule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AA2D1-4285-4832-A758-1E24669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9BA8B-ADD4-4ED5-BBE5-F9DE9A7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Unicité d’une note par étudiant et évaluation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055B8-3964-4D8E-BC5E-422C921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79103-BD48-443A-87F4-0688CF5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Audit obligatoire après publication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744A1-C0AD-4045-91A6-E9F4026C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524250" cy="18097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3C6E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C514E-2897-4342-AFF5-2ACE700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C6E52"/>
                </a:solidFill>
              </a:defRPr>
            </a:pPr>
            <a:r>
              <a:rPr sz="825" b="1">
                <a:solidFill>
                  <a:srgbClr val="3C6E52"/>
                </a:solidFill>
              </a:rPr>
              <a:t>EXEMPLE AVEC TP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43D67-DB67-425C-86CE-993053E8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62175"/>
            <a:ext cx="31813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CC 14 · TP 15 · SN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Résultat : 15,30 / 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ED3AA-94B4-438C-987F-A142DB66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5242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8C2F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96027-2A2B-4286-A818-81640B37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67175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2F2F"/>
                </a:solidFill>
              </a:defRPr>
            </a:pPr>
            <a:r>
              <a:rPr sz="825" b="1">
                <a:solidFill>
                  <a:srgbClr val="8C2F2F"/>
                </a:solidFill>
              </a:rPr>
              <a:t>ÉCHEC ATTENDU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56EBB-F0BB-41C6-B8DD-4E434FAA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05300"/>
            <a:ext cx="3181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SN absente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B2942"/>
                </a:solidFill>
              </a:defRPr>
            </a:pPr>
            <a:r>
              <a:rPr sz="1425" b="0">
                <a:solidFill>
                  <a:srgbClr val="1B2942"/>
                </a:solidFill>
              </a:rPr>
              <a:t>Statut : MANQUANTE</a:t>
            </a:r>
          </a:p>
        </p:txBody>
      </p:sp>
    </p:spTree>
    <p:extLst>
      <p:ext uri="{BB962C8B-B14F-4D97-AF65-F5344CB8AC3E}">
        <p14:creationId xmlns:p14="http://schemas.microsoft.com/office/powerpoint/2010/main" val="779108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EDA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49CFD-BB13-4593-9A25-123831BA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2F2F"/>
                </a:solidFill>
              </a:defRPr>
            </a:pPr>
            <a:r>
              <a:rPr sz="975" b="1">
                <a:solidFill>
                  <a:srgbClr val="8C2F2F"/>
                </a:solidFill>
              </a:rPr>
              <a:t>PLAN DE RÉALISATION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FD854-7FEB-4EFB-A052-24F2835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B2942"/>
                </a:solidFill>
              </a:defRPr>
            </a:pPr>
            <a:r>
              <a:rPr sz="2850" b="0">
                <a:solidFill>
                  <a:srgbClr val="1B2942"/>
                </a:solidFill>
              </a:rPr>
              <a:t>Le développement commence par les fondations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AB21E-FC90-428B-8901-52894547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9AC2D-759F-4E9B-AC2E-AE3717D0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GNU · Gestion des notes · Système LMD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DFD45-CFF4-4046-96BF-AC6E907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5F66"/>
                </a:solidFill>
              </a:defRPr>
            </a:pPr>
            <a:r>
              <a:rPr sz="750" b="0">
                <a:solidFill>
                  <a:srgbClr val="5B5F66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50567-2358-4E2C-BA33-B222DA94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572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B2942"/>
          </a:solidFill>
          <a:ln xmlns:a="http://schemas.openxmlformats.org/drawingml/2006/main" w="9525">
            <a:solidFill>
              <a:srgbClr val="1B2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FF384-09E7-4133-9B70-E4758388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SPRINT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B4309-AE19-4BD6-902A-01C87F53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049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3–5 jours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324A1-B018-4586-9AAD-4C140AAE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049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Docker · PostgreSQL · Laravel · Flutter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30E2E-91B0-4A04-986F-EC866C86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572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5B5F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E5F5B-8F8D-4373-985C-2DB2C010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C2F2F"/>
                </a:solidFill>
              </a:defRPr>
            </a:pPr>
            <a:r>
              <a:rPr sz="1200" b="1">
                <a:solidFill>
                  <a:srgbClr val="8C2F2F"/>
                </a:solidFill>
              </a:rPr>
              <a:t>SPRINT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A681C-1F37-4391-B71C-36C26BA6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2 semaines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87862-A51F-49FF-8DDA-D211BD6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Sanctum · rôles · classes · inscriptions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DBB85-6B03-4269-9095-500A4D18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572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5B5F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2523E-1364-404A-8231-1D98FBF7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C2F2F"/>
                </a:solidFill>
              </a:defRPr>
            </a:pPr>
            <a:r>
              <a:rPr sz="1200" b="1">
                <a:solidFill>
                  <a:srgbClr val="8C2F2F"/>
                </a:solidFill>
              </a:rPr>
              <a:t>SPRINT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800A4-99BA-4746-AA3F-126C9EAA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385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2 semaines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6D3D1-4897-4752-B070-A119EBFF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Affectations · évaluations · saisie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05646-6063-4AF9-A5A5-C073695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572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5B5F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31BCE-DFA7-4853-AD75-704F80D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C2F2F"/>
                </a:solidFill>
              </a:defRPr>
            </a:pPr>
            <a:r>
              <a:rPr sz="1200" b="1">
                <a:solidFill>
                  <a:srgbClr val="8C2F2F"/>
                </a:solidFill>
              </a:rPr>
              <a:t>SPRINT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D890A-9DEC-4FE2-AD21-AA630B26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05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2 semaines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EC275-0641-4BD8-80E7-B9BAFA0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Calcul · validation · bulletins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529CB-7D54-43C2-A475-B71653F6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572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5B5F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130BF-8743-4864-9E13-5DF685B1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C2F2F"/>
                </a:solidFill>
              </a:defRPr>
            </a:pPr>
            <a:r>
              <a:rPr sz="1200" b="1">
                <a:solidFill>
                  <a:srgbClr val="8C2F2F"/>
                </a:solidFill>
              </a:rPr>
              <a:t>SPRINT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D55B3-29A1-445F-A742-E68462F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720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2 semaines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D799A-F256-46BF-A778-F79791B6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720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942"/>
                </a:solidFill>
              </a:defRPr>
            </a:pPr>
            <a:r>
              <a:rPr sz="1575" b="0">
                <a:solidFill>
                  <a:srgbClr val="1B2942"/>
                </a:solidFill>
              </a:rPr>
              <a:t>Consultation · requêtes · audit</a:t>
            </a:r>
          </a:p>
        </p:txBody>
      </p:sp>
    </p:spTree>
    <p:extLst>
      <p:ext uri="{BB962C8B-B14F-4D97-AF65-F5344CB8AC3E}">
        <p14:creationId xmlns:p14="http://schemas.microsoft.com/office/powerpoint/2010/main" val="1700340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B3D31-F011-4C9B-B123-0942CC75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762C"/>
                </a:solidFill>
              </a:defRPr>
            </a:pPr>
            <a:r>
              <a:rPr sz="1050" b="1">
                <a:solidFill>
                  <a:srgbClr val="A9762C"/>
                </a:solidFill>
              </a:rPr>
              <a:t>CONCEPTION TERMINÉE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D7B79-687D-434E-AFE5-187311DF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1EEE2"/>
                </a:solidFill>
              </a:defRPr>
            </a:pPr>
            <a:r>
              <a:rPr sz="4050" b="0">
                <a:solidFill>
                  <a:srgbClr val="F1EEE2"/>
                </a:solidFill>
              </a:rPr>
              <a:t>Prochaine étape :</a:t>
            </a:r>
          </a:p>
          <a:p xmlns:a="http://schemas.openxmlformats.org/drawingml/2006/main">
            <a:pPr algn="l">
              <a:defRPr sz="4050" b="0">
                <a:solidFill>
                  <a:srgbClr val="F1EEE2"/>
                </a:solidFill>
              </a:defRPr>
            </a:pPr>
            <a:r>
              <a:rPr sz="4050" b="0">
                <a:solidFill>
                  <a:srgbClr val="F1EEE2"/>
                </a:solidFill>
              </a:rPr>
              <a:t>Sprint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D38A8-A589-438D-ADE4-032A7494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EE2"/>
                </a:solidFill>
              </a:defRPr>
            </a:pPr>
            <a:r>
              <a:rPr sz="1800" b="0">
                <a:solidFill>
                  <a:srgbClr val="F1EEE2"/>
                </a:solidFill>
              </a:rPr>
              <a:t>Initialiser Laravel, PostgreSQL et Flutter, puis sécuriser le premier parcours avec Sanctum.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8B577-0E54-4FCE-BCC8-B564C073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2667000" cy="3714750"/>
          </a:xfrm>
          <a:prstGeom xmlns:a="http://schemas.openxmlformats.org/drawingml/2006/main" prst="roundRect">
            <a:avLst>
              <a:gd name="adj" fmla="val 714"/>
            </a:avLst>
          </a:prstGeom>
          <a:solidFill xmlns:a="http://schemas.openxmlformats.org/drawingml/2006/main">
            <a:srgbClr val="F1EEE2"/>
          </a:solidFill>
          <a:ln xmlns:a="http://schemas.openxmlformats.org/drawingml/2006/main" w="9525">
            <a:solidFill>
              <a:srgbClr val="F1EE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57B19-244A-45F3-9067-267C1461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049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C2F2F"/>
                </a:solidFill>
              </a:defRPr>
            </a:pPr>
            <a:r>
              <a:rPr sz="2700" b="1">
                <a:solidFill>
                  <a:srgbClr val="8C2F2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488F7-BCD3-466A-A26C-00834DF0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098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B2942"/>
                </a:solidFill>
              </a:defRPr>
            </a:pPr>
            <a:r>
              <a:rPr sz="1800" b="0">
                <a:solidFill>
                  <a:srgbClr val="1B2942"/>
                </a:solidFill>
              </a:rPr>
              <a:t>Projet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3273F-DE76-42B5-A933-38C0D77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09BF9-2169-4489-BDD8-DAD4FB91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190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B2942"/>
                </a:solidFill>
              </a:defRPr>
            </a:pPr>
            <a:r>
              <a:rPr sz="1350" b="0">
                <a:solidFill>
                  <a:srgbClr val="1B2942"/>
                </a:solidFill>
              </a:rPr>
              <a:t>Docker Compose</a:t>
            </a:r>
          </a:p>
          <a:p xmlns:a="http://schemas.openxmlformats.org/drawingml/2006/main">
            <a:pPr algn="ctr">
              <a:defRPr sz="1350" b="0">
                <a:solidFill>
                  <a:srgbClr val="1B2942"/>
                </a:solidFill>
              </a:defRPr>
            </a:pPr>
            <a:r>
              <a:rPr sz="1350" b="0">
                <a:solidFill>
                  <a:srgbClr val="1B2942"/>
                </a:solidFill>
              </a:rPr>
              <a:t>PostgreSQL</a:t>
            </a:r>
          </a:p>
          <a:p xmlns:a="http://schemas.openxmlformats.org/drawingml/2006/main">
            <a:pPr algn="ctr">
              <a:defRPr sz="1350" b="0">
                <a:solidFill>
                  <a:srgbClr val="1B2942"/>
                </a:solidFill>
              </a:defRPr>
            </a:pPr>
            <a:r>
              <a:rPr sz="1350" b="0">
                <a:solidFill>
                  <a:srgbClr val="1B2942"/>
                </a:solidFill>
              </a:rPr>
              <a:t>Laravel / PHP</a:t>
            </a:r>
          </a:p>
          <a:p xmlns:a="http://schemas.openxmlformats.org/drawingml/2006/main">
            <a:pPr algn="ctr">
              <a:defRPr sz="1350" b="0">
                <a:solidFill>
                  <a:srgbClr val="1B2942"/>
                </a:solidFill>
              </a:defRPr>
            </a:pPr>
            <a:r>
              <a:rPr sz="1350" b="0">
                <a:solidFill>
                  <a:srgbClr val="1B2942"/>
                </a:solidFill>
              </a:rPr>
              <a:t>ThemeData GNU</a:t>
            </a:r>
          </a:p>
          <a:p xmlns:a="http://schemas.openxmlformats.org/drawingml/2006/main">
            <a:pPr algn="ctr">
              <a:defRPr sz="1350" b="0">
                <a:solidFill>
                  <a:srgbClr val="1B2942"/>
                </a:solidFill>
              </a:defRPr>
            </a:pPr>
            <a:r>
              <a:rPr sz="1350" b="0">
                <a:solidFill>
                  <a:srgbClr val="1B2942"/>
                </a:solidFill>
              </a:rPr>
              <a:t>Tests initiaux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CF0D8-1639-43B0-BA74-E6CCF32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1EEE2"/>
                </a:solidFill>
              </a:defRPr>
            </a:pPr>
            <a:r>
              <a:rPr sz="750" b="0">
                <a:solidFill>
                  <a:srgbClr val="F1EEE2"/>
                </a:solidFill>
              </a:rPr>
              <a:t>GNU · Gestion des notes · Système LMD</a:t>
            </a:r>
          </a:p>
        </p:txBody>
      </p:sp>
    </p:spTree>
    <p:extLst>
      <p:ext uri="{BB962C8B-B14F-4D97-AF65-F5344CB8AC3E}">
        <p14:creationId xmlns:p14="http://schemas.microsoft.com/office/powerpoint/2010/main" val="750980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2026-09-07T22:41:00.4230000Z</dcterms:created>
  <dcterms:modified xsi:type="dcterms:W3CDTF">2026-09-07T22:41:00.4230000Z</dcterms:modified>
</coreProperties>
</file>