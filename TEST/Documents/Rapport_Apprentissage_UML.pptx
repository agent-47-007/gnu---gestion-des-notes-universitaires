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6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4023360" cy="4023360"/>
          </a:xfrm>
          <a:prstGeom prst="ellipse">
            <a:avLst/>
          </a:prstGeom>
          <a:solidFill>
            <a:srgbClr val="162A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DU CAMEROUN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académique ARITED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d'apprentissage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B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langage de modélisation UML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 projet « Gestion des Notes d'une Université — Système LMD 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92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Ngue Mbong André Fitzgerald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Thomas Messi Nguele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31 août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DU RAPPORT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09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UML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511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13 diagrammes UML 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924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cas d'utilisation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261104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2336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102352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074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d'états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3640" y="1737360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63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709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séquence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2578608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25511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d'objets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63640" y="3419856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3924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autres diagrammes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3640" y="4261104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42336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réalisés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63640" y="5102352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6364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5074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&amp; application au projet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UML  ·  Projet Gestion des Notes d'une Université – Système LMD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UML ? Merise vs UML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un problème d'informatisation, deux grandes approches de modélisation existent. UML a été retenu pour le projet « Gestion des Notes » car l'application sera développée selon une approche orientée objet, avec des interfaces Web et Mobile partageant les mêmes entités métier.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E9EF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 MERISE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1970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290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de modèles (MCD, MLD, MPD…)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Adaptée aux applications fonctionnelles ou objet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données relationnelles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 acteurs, flux, données, traitements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1F38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LANGAGE UML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 : naissance (9 diagrammes)  ·  2006 : UML 2 (13 diagrammes)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4290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 diagrammes complémentaires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aux applications orientées objet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données relationnelles ou objet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 cas d'utilisation, classes, états, séquences…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UML  ·  Projet Gestion des Notes d'une Université – Système LMD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13 diagrammes UML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E9EF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DIAGRAMMES DE STRUCTURE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L'organisation statique du système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classes ★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d'objets ★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paquetages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composants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déploiement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structure composite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DIAGRAMMES DE COMPORTEMENT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fonctionnement dynamique du système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cas d'utilisation ★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d'activités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transition d'état ★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séquence ★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communication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temps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vue d'ensemble des interactions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Diagrammes mobilisés dans le projet « Gestion des Notes »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UML  ·  Projet Gestion des Notes d'une Université – Système LMD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COMPORTEMENT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diagramme de cas d'utilisation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du système par un acteur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possibles entre acteur et système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pour construire les interfaces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Syntaxe essentielle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657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bonhomme allumette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41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4041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256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&lt;&lt;include&gt;&gt;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44256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obligatoire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097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&lt;&lt;extend&gt;&gt;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48097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optionnelle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9EF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1645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AU PROJET — 3 ACTEURS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2194560"/>
            <a:ext cx="384048" cy="384048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215798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250545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ses matières/UE, consulter notes et bulletin, soumettre une requête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0" y="3401568"/>
            <a:ext cx="384048" cy="384048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33649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71246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ses matières, saisir les notes, vérifier la numérisation, traiter une requête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4608576"/>
            <a:ext cx="384048" cy="384048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45720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(cellule info.)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491947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la structure académique, numériser, calculer la MGP, publier les résultats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5577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Précondition commune : authentification obligatoire avant toute action.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UML  ·  Projet Gestion des Notes d'une Université – Système LMD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diagramme de classes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 l'organisation des classes de l'application et prépare directement le futur Modèle Conceptuel de Données (MCD).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7315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 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 simple entre deux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Agrégation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losange vide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Lien « possède » faible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losange plein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Lien fort : suppression du tout = suppression des parties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Spécialisation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flèche triangulaire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Héritage d'attributs et de méthodes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617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multiplicités (1, 0..1, 0..*, 1..*) sont inversées par rapport à la notation Merise — point de vigilance important.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183880" y="196596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1F386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58200" y="2194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— 3 FAMILLES D'ENTITÉS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458200" y="283464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académique : Université, Faculté, Département, Filière, Niveau, Classe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Pédagogie : UE, Matière (EC)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&amp; évaluation : Enseignant, Étudiant, Inscription, Note, Requête, Bulletin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UML  ·  Projet Gestion des Notes d'une Université – Système LMD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COMPORTEMENT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diagramme d'états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concerne qu'un seul objet (une instance)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 les états possibles de cet objet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Intègre la notion de temps (étapes de vie)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74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initial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474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cercle plein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58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final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858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cercle cerclé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42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transitoire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42428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arrondi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26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46268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flèche + action/[condition]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4173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E9EF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PROJET — CYCLE DE VIE D'UNE REQUÊTE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283464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3154680"/>
            <a:ext cx="22860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75320" y="283464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532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traitement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29800" y="3154680"/>
            <a:ext cx="22860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58400" y="283464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Traitée / Rejetée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6576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cycle analogue pour une Note (saisie → numérisée → vérifiée → publiée), avec retour possible vers « saisie » après correction.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UML  ·  Projet Gestion des Notes d'une Université – Système LMD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D'INTERACTION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diagramme de séquence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 la dimension temporelle des messages échangés entre objets : le cycle de vie d'un ensemble d'objets liés dans un cas d'utilisation, et fait émerger les méthodes publiques de chaque classe.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de vie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pointillé vertical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flèche pleine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flèche pointillée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croix « X 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E9EF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1481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PROJET — PUBLICATION DES NOTES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91440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2377440"/>
            <a:ext cx="0" cy="3291840"/>
          </a:xfrm>
          <a:prstGeom prst="line">
            <a:avLst/>
          </a:prstGeom>
          <a:noFill/>
          <a:ln w="9525">
            <a:solidFill>
              <a:srgbClr val="8496A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635240" y="2011680"/>
            <a:ext cx="91440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92440" y="2377440"/>
            <a:ext cx="0" cy="3291840"/>
          </a:xfrm>
          <a:prstGeom prst="line">
            <a:avLst/>
          </a:prstGeom>
          <a:noFill/>
          <a:ln w="9525">
            <a:solidFill>
              <a:srgbClr val="8496A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686800" y="2011680"/>
            <a:ext cx="91440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0" y="2377440"/>
            <a:ext cx="0" cy="3291840"/>
          </a:xfrm>
          <a:prstGeom prst="line">
            <a:avLst/>
          </a:prstGeom>
          <a:noFill/>
          <a:ln w="9525">
            <a:solidFill>
              <a:srgbClr val="8496AE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738360" y="2011680"/>
            <a:ext cx="91440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55548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195560" y="2377440"/>
            <a:ext cx="0" cy="3291840"/>
          </a:xfrm>
          <a:prstGeom prst="line">
            <a:avLst/>
          </a:prstGeom>
          <a:noFill/>
          <a:ln w="9525">
            <a:solidFill>
              <a:srgbClr val="8496A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0789920" y="2011680"/>
            <a:ext cx="91440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60704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247120" y="2377440"/>
            <a:ext cx="0" cy="3291840"/>
          </a:xfrm>
          <a:prstGeom prst="line">
            <a:avLst/>
          </a:prstGeom>
          <a:noFill/>
          <a:ln w="9525">
            <a:solidFill>
              <a:srgbClr val="8496A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040880" y="2743200"/>
            <a:ext cx="10515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040880" y="248716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notes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92440" y="3456432"/>
            <a:ext cx="10515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092440" y="32004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numériser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00" y="4169664"/>
            <a:ext cx="10515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9144000" y="39136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MGP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195560" y="4882896"/>
            <a:ext cx="10515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10195560" y="46268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UML  ·  Projet Gestion des Notes d'une Université – Système LMD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diagramme d'objets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Détaille les instances possibles ou obligatoires d'un diagramme de classes, à un instant donné. Il permet de vérifier — avec des valeurs réelles — que les multiplicités et associations définies sont cohérentes.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9EF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AU PROJET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instance de Classe (« L3 Informatique — 2025/2026 ») contenant plusieurs instances d'Étudiant, pour vérifier que la multiplicité Classe–Étudiant correspond à un effectif réaliste.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1463040"/>
            <a:ext cx="18288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classe:Classe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9680" y="2468880"/>
            <a:ext cx="23774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étudiant1 : Étudiant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1965960"/>
            <a:ext cx="1463040" cy="758952"/>
          </a:xfrm>
          <a:prstGeom prst="line">
            <a:avLst/>
          </a:prstGeom>
          <a:noFill/>
          <a:ln w="12700">
            <a:solidFill>
              <a:srgbClr val="8496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3291840"/>
            <a:ext cx="23774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étudiant2 : Étudiant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06640" y="1965960"/>
            <a:ext cx="1463040" cy="1581912"/>
          </a:xfrm>
          <a:prstGeom prst="line">
            <a:avLst/>
          </a:prstGeom>
          <a:noFill/>
          <a:ln w="12700">
            <a:solidFill>
              <a:srgbClr val="8496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4114800"/>
            <a:ext cx="23774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étudiant3 : Étudiant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06640" y="1965960"/>
            <a:ext cx="1463040" cy="2404872"/>
          </a:xfrm>
          <a:prstGeom prst="line">
            <a:avLst/>
          </a:prstGeom>
          <a:noFill/>
          <a:ln w="12700">
            <a:solidFill>
              <a:srgbClr val="8496A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UML  ·  Projet Gestion des Notes d'une Université – Système LMD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COMPLÉMENTAIRE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autres diagrammes UML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9EFF9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7099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Paquetages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2860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de l'application et leurs dépendances (ex. Authentification, Notes, Bulletins).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508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9EF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737360"/>
            <a:ext cx="384048" cy="384048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17099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2860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Enchaînement des activités par acteur — utile pour détailler le circuit complet de publication.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508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9EF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1737360"/>
            <a:ext cx="384048" cy="384048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17099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2860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 vue du diagramme de séquence, centrée sur la coopération entre objets.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F3864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3931920"/>
            <a:ext cx="384048" cy="384048"/>
          </a:xfrm>
          <a:prstGeom prst="ellipse">
            <a:avLst/>
          </a:prstGeom>
          <a:solidFill>
            <a:srgbClr val="8FB6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9044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4805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physique : postes clients, serveur central, base de données, architecture Web/Mobile.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3400" y="3703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F3864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3931920"/>
            <a:ext cx="384048" cy="384048"/>
          </a:xfrm>
          <a:prstGeom prst="ellipse">
            <a:avLst/>
          </a:prstGeom>
          <a:solidFill>
            <a:srgbClr val="8FB6E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39044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4805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logique des ressources (bases de données, fichiers, librairies).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38160" y="3703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F3864"/>
          </a:solidFill>
          <a:ln/>
        </p:spPr>
      </p:sp>
      <p:sp>
        <p:nvSpPr>
          <p:cNvPr id="32" name="Shape 30"/>
          <p:cNvSpPr/>
          <p:nvPr/>
        </p:nvSpPr>
        <p:spPr>
          <a:xfrm>
            <a:off x="8366760" y="3931920"/>
            <a:ext cx="384048" cy="384048"/>
          </a:xfrm>
          <a:prstGeom prst="ellipse">
            <a:avLst/>
          </a:prstGeom>
          <a:solidFill>
            <a:srgbClr val="8FB6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6676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869680" y="39044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composite / temps / vue globale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366760" y="44805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UML 2 spécialisés, hors périmètre immédiat du projet.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UML  ·  Projet Gestion des Notes d'une Université – Système LMD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Exercices réalisés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438912" cy="438912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1499616"/>
            <a:ext cx="10469880" cy="749808"/>
          </a:xfrm>
          <a:prstGeom prst="roundRect">
            <a:avLst>
              <a:gd name="adj" fmla="val 7317"/>
            </a:avLst>
          </a:prstGeom>
          <a:solidFill>
            <a:srgbClr val="E9EF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499616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 d'un site commercial (panier, paiement en ligne ou à la livraison) avec &lt;&lt;include&gt;&gt; / &lt;&lt;extend&gt;&gt;.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438912" cy="438912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450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43000" y="2395728"/>
            <a:ext cx="10469880" cy="749808"/>
          </a:xfrm>
          <a:prstGeom prst="roundRect">
            <a:avLst>
              <a:gd name="adj" fmla="val 7317"/>
            </a:avLst>
          </a:prstGeom>
          <a:solidFill>
            <a:srgbClr val="F4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239572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classes Commune / Secteur / Compteur / Branchement, à partir d'un pseudo-code orienté objet.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438912" cy="438912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346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43000" y="3291840"/>
            <a:ext cx="10469880" cy="749808"/>
          </a:xfrm>
          <a:prstGeom prst="roundRect">
            <a:avLst>
              <a:gd name="adj" fmla="val 7317"/>
            </a:avLst>
          </a:prstGeom>
          <a:solidFill>
            <a:srgbClr val="E9EF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71600" y="3291840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d'états d'une intervention technique (À faire → Planifiée → En cours → Interrompue/Terminée → Archivée).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42816"/>
            <a:ext cx="438912" cy="438912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" y="4187952"/>
            <a:ext cx="10469880" cy="749808"/>
          </a:xfrm>
          <a:prstGeom prst="roundRect">
            <a:avLst>
              <a:gd name="adj" fmla="val 7317"/>
            </a:avLst>
          </a:prstGeom>
          <a:solidFill>
            <a:srgbClr val="F4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71600" y="4187952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d'un diagramme de classes médical (Dossier / Prestation / Intervenant) : navigation, héritage, multiplicités.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138928"/>
            <a:ext cx="438912" cy="438912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138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43000" y="5084064"/>
            <a:ext cx="10469880" cy="749808"/>
          </a:xfrm>
          <a:prstGeom prst="roundRect">
            <a:avLst>
              <a:gd name="adj" fmla="val 7317"/>
            </a:avLst>
          </a:prstGeom>
          <a:solidFill>
            <a:srgbClr val="E9EFF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371600" y="5084064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complète (classes + cas d'utilisation) d'une application de gestion de factures.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UML  ·  Projet Gestion des Notes d'une Université – Système LMD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&amp; application au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2296" cy="8229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11580"/>
            <a:ext cx="82296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j'en retiens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diagrammes directement utiles au projet : cas d'utilisation, classes, séquence, états, activités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d'ensemble des 13 diagrammes UML 2 et de leur complémentarité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claire entre agrégation et composition, lecture des multiplicités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F38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6276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2194560"/>
            <a:ext cx="384048" cy="384048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15798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 02/09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48716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schéma de la base de données (MCD dérivé du diagramme de classes)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337560"/>
            <a:ext cx="384048" cy="384048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30098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vigilance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363016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Clarifier la notion de « salle » avant le lancement du Sprint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4480560"/>
            <a:ext cx="384048" cy="384048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444398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 04/09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77316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la première itération de l'application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UML  ·  Projet Gestion des Notes d'une Université – Système LMD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6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62A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377440" cy="0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d'apprentissage UML — Gestion des Notes d'une Université – Système LMD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2026-08-31T00:22:00Z</dcterms:created>
  <dcterms:modified xsi:type="dcterms:W3CDTF">2026-08-31T00:22:00Z</dcterms:modified>
</cp:coreProperties>
</file>